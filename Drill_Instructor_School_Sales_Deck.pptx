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24f9d1b90d441b" /><Relationship Type="http://schemas.openxmlformats.org/officeDocument/2006/relationships/extended-properties" Target="/docProps/app.xml" Id="R44b447c65fe54386" /><Relationship Type="http://schemas.openxmlformats.org/officeDocument/2006/relationships/officeDocument" Target="/ppt/presentation.xml" Id="R1cb4dee584f5414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26d2df49444fe2"/>
  </p:sldMasterIdLst>
  <p:notesMasterIdLst>
    <p:notesMasterId xmlns:r="http://schemas.openxmlformats.org/officeDocument/2006/relationships" r:id="R3084ca2270b44fbc"/>
  </p:notesMasterIdLst>
  <p:sldIdLst>
    <p:sldId xmlns:r="http://schemas.openxmlformats.org/officeDocument/2006/relationships" id="256" r:id="R4c28d718bf6a428d"/>
    <p:sldId xmlns:r="http://schemas.openxmlformats.org/officeDocument/2006/relationships" id="257" r:id="R8994c5694f0e4011"/>
    <p:sldId xmlns:r="http://schemas.openxmlformats.org/officeDocument/2006/relationships" id="258" r:id="R1e3be0d9f61e40f4"/>
    <p:sldId xmlns:r="http://schemas.openxmlformats.org/officeDocument/2006/relationships" id="259" r:id="Ree3b8c81647b4258"/>
    <p:sldId xmlns:r="http://schemas.openxmlformats.org/officeDocument/2006/relationships" id="260" r:id="R11d24e2cd60f42de"/>
    <p:sldId xmlns:r="http://schemas.openxmlformats.org/officeDocument/2006/relationships" id="261" r:id="R7ab72f1ccec7438a"/>
    <p:sldId xmlns:r="http://schemas.openxmlformats.org/officeDocument/2006/relationships" id="262" r:id="R7a2ba21ff4a7454e"/>
    <p:sldId xmlns:r="http://schemas.openxmlformats.org/officeDocument/2006/relationships" id="263" r:id="Rdbd7075702f24599"/>
    <p:sldId xmlns:r="http://schemas.openxmlformats.org/officeDocument/2006/relationships" id="264" r:id="R6b9dcabdf4814d7b"/>
    <p:sldId xmlns:r="http://schemas.openxmlformats.org/officeDocument/2006/relationships" id="265" r:id="Rbda2fdbff6dc40e5"/>
    <p:sldId xmlns:r="http://schemas.openxmlformats.org/officeDocument/2006/relationships" id="266" r:id="Rf0660ef06f954d18"/>
    <p:sldId xmlns:r="http://schemas.openxmlformats.org/officeDocument/2006/relationships" id="267" r:id="R286da3232f864c1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b9df50775142bd" /><Relationship Type="http://schemas.openxmlformats.org/officeDocument/2006/relationships/slideMaster" Target="/ppt/slideMasters/slideMaster1.xml" Id="R7e26d2df49444fe2" /><Relationship Type="http://schemas.openxmlformats.org/officeDocument/2006/relationships/notesMaster" Target="/ppt/notesMasters/notesMaster1.xml" Id="R3084ca2270b44fbc" /><Relationship Type="http://schemas.openxmlformats.org/officeDocument/2006/relationships/presProps" Target="/ppt/presProps.xml" Id="Rdfdeb01207da49b7" /><Relationship Type="http://schemas.openxmlformats.org/officeDocument/2006/relationships/tableStyles" Target="/ppt/tableStyles.xml" Id="R1b4a205e679a4228" /><Relationship Type="http://schemas.openxmlformats.org/officeDocument/2006/relationships/slide" Target="/ppt/slides/slide1.xml" Id="R4c28d718bf6a428d" /><Relationship Type="http://schemas.openxmlformats.org/officeDocument/2006/relationships/slide" Target="/ppt/slides/slide2.xml" Id="R8994c5694f0e4011" /><Relationship Type="http://schemas.openxmlformats.org/officeDocument/2006/relationships/slide" Target="/ppt/slides/slide3.xml" Id="R1e3be0d9f61e40f4" /><Relationship Type="http://schemas.openxmlformats.org/officeDocument/2006/relationships/slide" Target="/ppt/slides/slide4.xml" Id="Ree3b8c81647b4258" /><Relationship Type="http://schemas.openxmlformats.org/officeDocument/2006/relationships/slide" Target="/ppt/slides/slide5.xml" Id="R11d24e2cd60f42de" /><Relationship Type="http://schemas.openxmlformats.org/officeDocument/2006/relationships/slide" Target="/ppt/slides/slide6.xml" Id="R7ab72f1ccec7438a" /><Relationship Type="http://schemas.openxmlformats.org/officeDocument/2006/relationships/slide" Target="/ppt/slides/slide7.xml" Id="R7a2ba21ff4a7454e" /><Relationship Type="http://schemas.openxmlformats.org/officeDocument/2006/relationships/slide" Target="/ppt/slides/slide8.xml" Id="Rdbd7075702f24599" /><Relationship Type="http://schemas.openxmlformats.org/officeDocument/2006/relationships/slide" Target="/ppt/slides/slide9.xml" Id="R6b9dcabdf4814d7b" /><Relationship Type="http://schemas.openxmlformats.org/officeDocument/2006/relationships/slide" Target="/ppt/slides/slide10.xml" Id="Rbda2fdbff6dc40e5" /><Relationship Type="http://schemas.openxmlformats.org/officeDocument/2006/relationships/slide" Target="/ppt/slides/slide11.xml" Id="Rf0660ef06f954d18" /><Relationship Type="http://schemas.openxmlformats.org/officeDocument/2006/relationships/slide" Target="/ppt/slides/slide12.xml" Id="R286da3232f864c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6a6154a51448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3ff525a97c946b0" /><Relationship Type="http://schemas.openxmlformats.org/officeDocument/2006/relationships/notesMaster" Target="/ppt/notesMasters/notesMaster1.xml" Id="Rfc3c3289e7b44c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762acbc0fc64bef" /><Relationship Type="http://schemas.openxmlformats.org/officeDocument/2006/relationships/notesMaster" Target="/ppt/notesMasters/notesMaster1.xml" Id="R04e689a6e8624e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f95d39f4a9f469c" /><Relationship Type="http://schemas.openxmlformats.org/officeDocument/2006/relationships/notesMaster" Target="/ppt/notesMasters/notesMaster1.xml" Id="R3c6c41a5fc934fe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c75bbf02c04a1b" /><Relationship Type="http://schemas.openxmlformats.org/officeDocument/2006/relationships/notesMaster" Target="/ppt/notesMasters/notesMaster1.xml" Id="R52157c884f984f8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14489c832240c1" /><Relationship Type="http://schemas.openxmlformats.org/officeDocument/2006/relationships/notesMaster" Target="/ppt/notesMasters/notesMaster1.xml" Id="R0c55a58ceb18438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ea835228aa4413a" /><Relationship Type="http://schemas.openxmlformats.org/officeDocument/2006/relationships/notesMaster" Target="/ppt/notesMasters/notesMaster1.xml" Id="R1d9d247b4f614e6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9d7c154476e4068" /><Relationship Type="http://schemas.openxmlformats.org/officeDocument/2006/relationships/notesMaster" Target="/ppt/notesMasters/notesMaster1.xml" Id="R1b8a090f909c494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5d8372a0c3d436e" /><Relationship Type="http://schemas.openxmlformats.org/officeDocument/2006/relationships/notesMaster" Target="/ppt/notesMasters/notesMaster1.xml" Id="Rdfb56ad55f6b49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93877196c664dbf" /><Relationship Type="http://schemas.openxmlformats.org/officeDocument/2006/relationships/notesMaster" Target="/ppt/notesMasters/notesMaster1.xml" Id="Rf70e8ee62c9548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32df25e7dfd4f89" /><Relationship Type="http://schemas.openxmlformats.org/officeDocument/2006/relationships/notesMaster" Target="/ppt/notesMasters/notesMaster1.xml" Id="R87cf550474434b7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631b3e8aadd4020" /><Relationship Type="http://schemas.openxmlformats.org/officeDocument/2006/relationships/notesMaster" Target="/ppt/notesMasters/notesMaster1.xml" Id="Rf83e3b95e93342d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6429d8a91ec48bf" /><Relationship Type="http://schemas.openxmlformats.org/officeDocument/2006/relationships/notesMaster" Target="/ppt/notesMasters/notesMaster1.xml" Id="Ra521180924fd46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First-party product screenshot: public-home-hero.png.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Problem framing supplied by the product founder; no external statistics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positioning and naming rationale supplied by the founder.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First-party screenshots: student-drill-builder.png and student-review-full.png.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First-party screenshots: student-ranks.png and student-leaderboards.png.</a:t>
            </a:r>
          </a:p>
          <a:p xmlns:a="http://schemas.openxmlformats.org/drawingml/2006/main">
            <a:r>
              <a:t>- Point system is implemented product behavior supplied by the founder.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First-party screenshot: educator-question-browser.png.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First-party screenshots: educator-group-analytics.png and educator-question-performance.png.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First-party screenshot: educator-admin-summary.png.</a:t>
            </a:r>
          </a:p>
          <a:p xmlns:a="http://schemas.openxmlformats.org/drawingml/2006/main">
            <a:r>
              <a:t>- Privacy and permission statements are based on the implemented product requirements supplied by the founder.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First-party screenshot: public-home-hero.png.</a:t>
            </a:r>
          </a:p>
          <a:p xmlns:a="http://schemas.openxmlformats.org/drawingml/2006/main">
            <a:r>
              <a:t>- Parent use case supplied by the founder; no external claims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Pricing from the first-party /pricing page captured on 2026-08-10.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First-party screenshots: student-bootcamps.png and educator-bootcamps.png.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First-party Drill Instructor brand and product domain.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a4b0264fad418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625b8d9be24140" /><Relationship Type="http://schemas.openxmlformats.org/officeDocument/2006/relationships/slideLayout" Target="/ppt/slideLayouts/slideLayout1.xml" Id="R7d7f3944cab245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7f3944cab245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e093e727844fd3" /><Relationship Type="http://schemas.openxmlformats.org/officeDocument/2006/relationships/image" Target="/ppt/media/image.jpeg" Id="Rf078580f76ac408e" /><Relationship Type="http://schemas.openxmlformats.org/officeDocument/2006/relationships/image" Target="/ppt/media/image.png" Id="R1f384e3ff6c44b3d" /><Relationship Type="http://schemas.openxmlformats.org/officeDocument/2006/relationships/notesSlide" Target="/ppt/notesSlides/notesSlide1.xml" Id="R21f85a1d5c44438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a7ea8732844d5f" /><Relationship Type="http://schemas.openxmlformats.org/officeDocument/2006/relationships/notesSlide" Target="/ppt/notesSlides/notesSlide2.xml" Id="R9794ab2bffd34ec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99084b264f4935" /><Relationship Type="http://schemas.openxmlformats.org/officeDocument/2006/relationships/notesSlide" Target="/ppt/notesSlides/notesSlide3.xml" Id="R652cf9c409de46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7633cab13449e2" /><Relationship Type="http://schemas.openxmlformats.org/officeDocument/2006/relationships/image" Target="/ppt/media/image2.jpeg" Id="Rc0d60421486d43ac" /><Relationship Type="http://schemas.openxmlformats.org/officeDocument/2006/relationships/image" Target="/ppt/media/image3.jpeg" Id="R406c9811b199477a" /><Relationship Type="http://schemas.openxmlformats.org/officeDocument/2006/relationships/notesSlide" Target="/ppt/notesSlides/notesSlide4.xml" Id="Rd926aa93b7bd4d3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fdf371625744a3" /><Relationship Type="http://schemas.openxmlformats.org/officeDocument/2006/relationships/image" Target="/ppt/media/image4.jpeg" Id="Rb4c8a281cfa64a36" /><Relationship Type="http://schemas.openxmlformats.org/officeDocument/2006/relationships/image" Target="/ppt/media/image5.jpeg" Id="Re2630c87266f41f1" /><Relationship Type="http://schemas.openxmlformats.org/officeDocument/2006/relationships/notesSlide" Target="/ppt/notesSlides/notesSlide5.xml" Id="Rcc5b314a1908451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a18230ebec4553" /><Relationship Type="http://schemas.openxmlformats.org/officeDocument/2006/relationships/image" Target="/ppt/media/image6.jpeg" Id="Rcf6dad5edec4400d" /><Relationship Type="http://schemas.openxmlformats.org/officeDocument/2006/relationships/notesSlide" Target="/ppt/notesSlides/notesSlide6.xml" Id="R300329afceaa42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9dd7f780da429e" /><Relationship Type="http://schemas.openxmlformats.org/officeDocument/2006/relationships/image" Target="/ppt/media/image7.jpeg" Id="R28dfe1f8f12b4d9f" /><Relationship Type="http://schemas.openxmlformats.org/officeDocument/2006/relationships/image" Target="/ppt/media/image8.jpeg" Id="Rf532d8fd0fea4b1f" /><Relationship Type="http://schemas.openxmlformats.org/officeDocument/2006/relationships/notesSlide" Target="/ppt/notesSlides/notesSlide7.xml" Id="R86cc301966e34b6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817d0c213b44ae" /><Relationship Type="http://schemas.openxmlformats.org/officeDocument/2006/relationships/image" Target="/ppt/media/image9.jpeg" Id="Rea88e456e80e437f" /><Relationship Type="http://schemas.openxmlformats.org/officeDocument/2006/relationships/notesSlide" Target="/ppt/notesSlides/notesSlide8.xml" Id="R25a874f86eef4a0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43e9a12d5541a2" /><Relationship Type="http://schemas.openxmlformats.org/officeDocument/2006/relationships/image" Target="/ppt/media/image10.jpeg" Id="Rbf9f2191f18e4e1b" /><Relationship Type="http://schemas.openxmlformats.org/officeDocument/2006/relationships/notesSlide" Target="/ppt/notesSlides/notesSlide9.xml" Id="R6709878ef7664db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ff2e0096c546d9" /><Relationship Type="http://schemas.openxmlformats.org/officeDocument/2006/relationships/notesSlide" Target="/ppt/notesSlides/notesSlide10.xml" Id="R615eae20c129474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ff906c2559458b" /><Relationship Type="http://schemas.openxmlformats.org/officeDocument/2006/relationships/image" Target="/ppt/media/image11.jpeg" Id="Rd125b25641b64650" /><Relationship Type="http://schemas.openxmlformats.org/officeDocument/2006/relationships/image" Target="/ppt/media/image12.jpeg" Id="R10ee7215422e4a08" /><Relationship Type="http://schemas.openxmlformats.org/officeDocument/2006/relationships/notesSlide" Target="/ppt/notesSlides/notesSlide11.xml" Id="R280ab214b680404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919669ed5c4325" /><Relationship Type="http://schemas.openxmlformats.org/officeDocument/2006/relationships/image" Target="/ppt/media/image2.png" Id="Raf6b738dd2d94d39" /><Relationship Type="http://schemas.openxmlformats.org/officeDocument/2006/relationships/notesSlide" Target="/ppt/notesSlides/notesSlide12.xml" Id="R09c579c618f742a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4B53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E053B2-9C24-4F94-8204-62E83FB0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53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5BD7CF-AB1A-4282-9474-4F4B922A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0"/>
            <a:ext cx="5124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B4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F3DF6D-B89D-4BCF-8403-3F8228CC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00050"/>
            <a:ext cx="4857750" cy="60769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78580f76ac408e"/>
          <a:srcRect xmlns:a="http://schemas.openxmlformats.org/drawingml/2006/main" l="30390" t="0" r="3039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24750" y="590550"/>
            <a:ext cx="4667250" cy="5695950"/>
          </a:xfrm>
          <a:prstGeom xmlns:a="http://schemas.openxmlformats.org/drawingml/2006/main" prst="roundRect">
            <a:avLst>
              <a:gd name="adj" fmla="val 2449"/>
            </a:avLst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384e3ff6c44b3d"/>
          <a:stretch xmlns:a="http://schemas.openxmlformats.org/drawingml/2006/main"/>
        </p:blipFill>
        <p:spPr>
          <a:xfrm xmlns:a="http://schemas.openxmlformats.org/drawingml/2006/main">
            <a:off x="685800" y="547084"/>
            <a:ext cx="590550" cy="563182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CC4D65-F841-48B6-881F-193937274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7225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DRILL INSTRUCTOR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1BA883-9D56-4674-8F28-F272E100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5619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FFFFFF"/>
                </a:solidFill>
              </a:defRPr>
            </a:pPr>
            <a:r>
              <a:rPr sz="4050" b="1" i="0">
                <a:solidFill>
                  <a:srgbClr val="FFFFFF"/>
                </a:solidFill>
              </a:rPr>
              <a:t>Practice. Review.</a:t>
            </a:r>
          </a:p>
          <a:p xmlns:a="http://schemas.openxmlformats.org/drawingml/2006/main">
            <a:pPr algn="l">
              <a:defRPr sz="4050" b="1" i="0">
                <a:solidFill>
                  <a:srgbClr val="FFFFFF"/>
                </a:solidFill>
              </a:defRPr>
            </a:pPr>
            <a:r>
              <a:rPr sz="4050" b="1" i="0">
                <a:solidFill>
                  <a:srgbClr val="FFFFFF"/>
                </a:solidFill>
              </a:rPr>
              <a:t>Improve.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CA5987-65E4-40AE-83D2-57ED899C1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5381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E9ECD8"/>
                </a:solidFill>
              </a:defRPr>
            </a:pPr>
            <a:r>
              <a:rPr sz="2025" b="1" i="0">
                <a:solidFill>
                  <a:srgbClr val="E9ECD8"/>
                </a:solidFill>
              </a:rPr>
              <a:t>Practice smarter for the tests that matter.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1018A0-A28F-49E5-916B-68FA5BB0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514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D7DCC0"/>
                </a:solidFill>
              </a:defRPr>
            </a:pPr>
            <a:r>
              <a:rPr sz="1500" b="0" i="0">
                <a:solidFill>
                  <a:srgbClr val="D7DCC0"/>
                </a:solidFill>
              </a:rPr>
              <a:t>A structured exam-preparation platform for students, educators, and schools.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FA008D-43B2-4D31-A6C6-852F6C50F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752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B4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ABF76B-0EF7-48A0-95A4-18C860AD7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3238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B44B"/>
                </a:solidFill>
              </a:defRPr>
            </a:pPr>
            <a:r>
              <a:rPr sz="1125" b="1" i="0">
                <a:solidFill>
                  <a:srgbClr val="E8B44B"/>
                </a:solidFill>
              </a:rPr>
              <a:t>SCHOOL PARTNERSHIP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5C2168-58DD-485E-9FD7-3E200E26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D7DCC0"/>
                </a:solidFill>
              </a:defRPr>
            </a:pPr>
            <a:r>
              <a:rPr sz="975" b="0" i="0">
                <a:solidFill>
                  <a:srgbClr val="D7DCC0"/>
                </a:solidFill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5374610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E1BA0F-A294-478F-97D5-657FB881E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4B5320"/>
                </a:solidFill>
              </a:defRPr>
            </a:pPr>
            <a:r>
              <a:rPr sz="1050" b="1" i="0">
                <a:solidFill>
                  <a:srgbClr val="4B5320"/>
                </a:solidFill>
              </a:rPr>
              <a:t>THE PREPARATION GAP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28EAEA-1F55-42E4-B1DD-6DD16EF2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01828"/>
                </a:solidFill>
              </a:defRPr>
            </a:pPr>
            <a:r>
              <a:rPr sz="3150" b="1" i="0">
                <a:solidFill>
                  <a:srgbClr val="101828"/>
                </a:solidFill>
              </a:rPr>
              <a:t>Practice generates answers. Schools need insight.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D74AAA-5166-4DEF-A99E-A062CF87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475467"/>
                </a:solidFill>
              </a:defRPr>
            </a:pPr>
            <a:r>
              <a:rPr sz="1650" b="0" i="0">
                <a:solidFill>
                  <a:srgbClr val="475467"/>
                </a:solidFill>
              </a:rPr>
              <a:t>The work is happening—but the signal is often lost.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52BAC4-5E6D-4347-A3E8-2A40275A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105400" cy="31242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D3632B-5C2A-464C-89A4-64C9319C9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152650"/>
            <a:ext cx="5391150" cy="31242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4B532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359C3-5F3D-4305-AEAB-EFBC57DA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19350"/>
            <a:ext cx="66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E8B44B"/>
                </a:solidFill>
              </a:defRPr>
            </a:pPr>
            <a:r>
              <a:rPr sz="3450" b="1" i="0">
                <a:solidFill>
                  <a:srgbClr val="E8B44B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EF8588-BB15-4C52-B954-B0CCFACD7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4325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01828"/>
                </a:solidFill>
              </a:defRPr>
            </a:pPr>
            <a:r>
              <a:rPr sz="2250" b="1" i="0">
                <a:solidFill>
                  <a:srgbClr val="101828"/>
                </a:solidFill>
              </a:rPr>
              <a:t>Students practice blindly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66E462-D92A-41AD-B6E0-576975035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05225"/>
            <a:ext cx="41719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475467"/>
                </a:solidFill>
              </a:defRPr>
            </a:pPr>
            <a:r>
              <a:rPr sz="1425" b="0" i="0">
                <a:solidFill>
                  <a:srgbClr val="475467"/>
                </a:solidFill>
              </a:rPr>
              <a:t>They answer questions without a clear view of which topics to revisit, where pacing breaks down, or why the same mistakes repeat.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211A63-5AD1-49C4-82EE-AEC0C57E9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19350"/>
            <a:ext cx="66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E8B44B"/>
                </a:solidFill>
              </a:defRPr>
            </a:pPr>
            <a:r>
              <a:rPr sz="3450" b="1" i="0">
                <a:solidFill>
                  <a:srgbClr val="E8B44B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B6075D-9967-4038-9BF0-CFADCEDD6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43250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Educators see too little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EBDD26-8303-4EE6-BE9A-616BBC6C2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05225"/>
            <a:ext cx="43053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E7EAD9"/>
                </a:solidFill>
              </a:defRPr>
            </a:pPr>
            <a:r>
              <a:rPr sz="1425" b="0" i="0">
                <a:solidFill>
                  <a:srgbClr val="E7EAD9"/>
                </a:solidFill>
              </a:rPr>
              <a:t>Assignments create more grading, yet still may not reveal who is stuck, which concept needs reteaching, or how students used their time.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87607C-6DB4-4C0D-8555-ADBB608C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619750"/>
            <a:ext cx="7848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4B5320"/>
                </a:solidFill>
              </a:defRPr>
            </a:pPr>
            <a:r>
              <a:rPr sz="1800" b="1" i="0">
                <a:solidFill>
                  <a:srgbClr val="4B5320"/>
                </a:solidFill>
              </a:rPr>
              <a:t>The opportunity: turn every practice session into useful next steps.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906F17-A3F8-4150-AB1C-02274712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67085"/>
                </a:solidFill>
              </a:defRPr>
            </a:pPr>
            <a:r>
              <a:rPr sz="825" b="1" i="0">
                <a:solidFill>
                  <a:srgbClr val="667085"/>
                </a:solidFill>
              </a:rPr>
              <a:t>DRILL INSTRUCTOR  •  SCHOOL PARTNERSHIP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1954E3-6351-46E9-9626-72BA82369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67085"/>
                </a:solidFill>
              </a:defRPr>
            </a:pPr>
            <a:r>
              <a:rPr sz="825" b="1" i="0">
                <a:solidFill>
                  <a:srgbClr val="66708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214100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4B53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323F16-A610-4052-9D24-B0AF4093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E8B44B"/>
                </a:solidFill>
              </a:defRPr>
            </a:pPr>
            <a:r>
              <a:rPr sz="1050" b="1" i="0">
                <a:solidFill>
                  <a:srgbClr val="E8B44B"/>
                </a:solidFill>
              </a:rPr>
              <a:t>THE PLATFORM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5388A2-37F1-4E90-BAAD-AE3EE908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FFFFFF"/>
                </a:solidFill>
              </a:defRPr>
            </a:pPr>
            <a:r>
              <a:rPr sz="3150" b="1" i="0">
                <a:solidFill>
                  <a:srgbClr val="FFFFFF"/>
                </a:solidFill>
              </a:rPr>
              <a:t>Preparation works best as a disciplined training loop.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BD5A37-20C1-4E75-8612-CA3C2FE7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DCE1C6"/>
                </a:solidFill>
              </a:defRPr>
            </a:pPr>
            <a:r>
              <a:rPr sz="1500" b="0" i="0">
                <a:solidFill>
                  <a:srgbClr val="DCE1C6"/>
                </a:solidFill>
              </a:rPr>
              <a:t>Exam preparation is serious work. Drill Instructor makes the repetition purposeful, visible, and easier to sustain.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02F8F9-5EEF-486E-84B0-4DCC0A21B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 i="0">
                <a:solidFill>
                  <a:srgbClr val="FFFFFF"/>
                </a:solidFill>
              </a:defRPr>
            </a:pPr>
            <a:r>
              <a:rPr sz="3000" b="1" i="0">
                <a:solidFill>
                  <a:srgbClr val="FFFFFF"/>
                </a:solidFill>
              </a:rPr>
              <a:t>PRACTICE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E85119-289D-4391-A04A-5F454D7A8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DCE1C6"/>
                </a:solidFill>
              </a:defRPr>
            </a:pPr>
            <a:r>
              <a:rPr sz="1350" b="0" i="0">
                <a:solidFill>
                  <a:srgbClr val="DCE1C6"/>
                </a:solidFill>
              </a:rPr>
              <a:t>Focused, timed drills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5341B7-89DA-4A29-89F8-183B52589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81300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E8B44B"/>
                </a:solidFill>
              </a:defRPr>
            </a:pPr>
            <a:r>
              <a:rPr sz="2550" b="1" i="0">
                <a:solidFill>
                  <a:srgbClr val="E8B44B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45D484-53B4-48E4-A12A-45A455B3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479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 i="0">
                <a:solidFill>
                  <a:srgbClr val="E8B44B"/>
                </a:solidFill>
              </a:defRPr>
            </a:pPr>
            <a:r>
              <a:rPr sz="3000" b="1" i="0">
                <a:solidFill>
                  <a:srgbClr val="E8B44B"/>
                </a:solidFill>
              </a:rPr>
              <a:t>REVIEW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023236-66CE-432C-AA5B-AB7C349A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3337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DCE1C6"/>
                </a:solidFill>
              </a:defRPr>
            </a:pPr>
            <a:r>
              <a:rPr sz="1350" b="0" i="0">
                <a:solidFill>
                  <a:srgbClr val="DCE1C6"/>
                </a:solidFill>
              </a:rPr>
              <a:t>Corrections and explanations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6362C2-42E6-45C4-9DA8-EA93E5A5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81300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E8B44B"/>
                </a:solidFill>
              </a:defRPr>
            </a:pPr>
            <a:r>
              <a:rPr sz="2550" b="1" i="0">
                <a:solidFill>
                  <a:srgbClr val="E8B44B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DC863D-8645-4A14-9790-2B622F79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479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 i="0">
                <a:solidFill>
                  <a:srgbClr val="FFFFFF"/>
                </a:solidFill>
              </a:defRPr>
            </a:pPr>
            <a:r>
              <a:rPr sz="3000" b="1" i="0">
                <a:solidFill>
                  <a:srgbClr val="FFFFFF"/>
                </a:solidFill>
              </a:rPr>
              <a:t>IMPROVE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99794D-1787-4C19-8ACB-4C88F998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3337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DCE1C6"/>
                </a:solidFill>
              </a:defRPr>
            </a:pPr>
            <a:r>
              <a:rPr sz="1350" b="0" i="0">
                <a:solidFill>
                  <a:srgbClr val="DCE1C6"/>
                </a:solidFill>
              </a:rPr>
              <a:t>Analytics guide the next session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56B284-3801-4F0D-B6B3-623184CA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1082040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5B64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3CF342-D511-467C-ABC5-5AE273AC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672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Why “Drill Instructor”?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798C58-DB1A-42AF-A57E-E0B60AE61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10100"/>
            <a:ext cx="6915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F1F3E8"/>
                </a:solidFill>
              </a:defRPr>
            </a:pPr>
            <a:r>
              <a:rPr sz="1500" b="0" i="0">
                <a:solidFill>
                  <a:srgbClr val="F1F3E8"/>
                </a:solidFill>
              </a:rPr>
              <a:t>The military is an enduring symbol of discipline. Students may not love every repetition—but structured repetition builds readiness.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C7A873-5612-44DF-835A-CE15F2F46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7DCC0"/>
                </a:solidFill>
              </a:defRPr>
            </a:pPr>
            <a:r>
              <a:rPr sz="825" b="1" i="0">
                <a:solidFill>
                  <a:srgbClr val="D7DCC0"/>
                </a:solidFill>
              </a:rPr>
              <a:t>DRILL INSTRUCTOR  •  SCHOOL PARTNERSHIP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4E9F4F-FC75-4E87-AB19-4D0F800C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D7DCC0"/>
                </a:solidFill>
              </a:defRPr>
            </a:pPr>
            <a:r>
              <a:rPr sz="825" b="1" i="0">
                <a:solidFill>
                  <a:srgbClr val="D7DCC0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518386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A6D427-9CF6-4E9F-B6E2-D9CBF9CF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4B5320"/>
                </a:solidFill>
              </a:defRPr>
            </a:pPr>
            <a:r>
              <a:rPr sz="1050" b="1" i="0">
                <a:solidFill>
                  <a:srgbClr val="4B5320"/>
                </a:solidFill>
              </a:rPr>
              <a:t>STUDENT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8C74E-A2F0-4D05-BCB6-A51F9F7F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01828"/>
                </a:solidFill>
              </a:defRPr>
            </a:pPr>
            <a:r>
              <a:rPr sz="3150" b="1" i="0">
                <a:solidFill>
                  <a:srgbClr val="101828"/>
                </a:solidFill>
              </a:rPr>
              <a:t>Students can build the right practice—and learn from every miss.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6B5272-1F7C-412F-954F-349D3224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429250" cy="390525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60421486d43ac"/>
          <a:stretch xmlns:a="http://schemas.openxmlformats.org/drawingml/2006/main"/>
        </p:blipFill>
        <p:spPr>
          <a:xfrm xmlns:a="http://schemas.openxmlformats.org/drawingml/2006/main">
            <a:off x="723900" y="2250560"/>
            <a:ext cx="5124450" cy="2452129"/>
          </a:xfrm>
          <a:prstGeom xmlns:a="http://schemas.openxmlformats.org/drawingml/2006/main" prst="roundRect">
            <a:avLst>
              <a:gd name="adj" fmla="val 3175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04B021-DAA9-4FB9-9AB8-5A26F56C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24000"/>
            <a:ext cx="5429250" cy="390525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6c9811b199477a"/>
          <a:stretch xmlns:a="http://schemas.openxmlformats.org/drawingml/2006/main"/>
        </p:blipFill>
        <p:spPr>
          <a:xfrm xmlns:a="http://schemas.openxmlformats.org/drawingml/2006/main">
            <a:off x="6475731" y="1676400"/>
            <a:ext cx="4860288" cy="3600450"/>
          </a:xfrm>
          <a:prstGeom xmlns:a="http://schemas.openxmlformats.org/drawingml/2006/main" prst="roundRect">
            <a:avLst>
              <a:gd name="adj" fmla="val 3175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572AF4-F8AE-499E-B74E-CDCD2146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97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4B5320"/>
                </a:solidFill>
              </a:defRPr>
            </a:pPr>
            <a:r>
              <a:rPr sz="1200" b="1" i="0">
                <a:solidFill>
                  <a:srgbClr val="4B5320"/>
                </a:solidFill>
              </a:rPr>
              <a:t>BUILD TARGETED DRILLS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D7F73A-5C49-4BC9-B32D-87780606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055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475467"/>
                </a:solidFill>
              </a:defRPr>
            </a:pPr>
            <a:r>
              <a:rPr sz="1275" b="0" i="0">
                <a:solidFill>
                  <a:srgbClr val="475467"/>
                </a:solidFill>
              </a:rPr>
              <a:t>Subjects, modules, practice tests, and subject-specific timers.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AFF34D-60B8-4430-9B5B-E703BC29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6197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4B5320"/>
                </a:solidFill>
              </a:defRPr>
            </a:pPr>
            <a:r>
              <a:rPr sz="1200" b="1" i="0">
                <a:solidFill>
                  <a:srgbClr val="4B5320"/>
                </a:solidFill>
              </a:rPr>
              <a:t>REVIEW WITH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12EBFE-CE99-45B7-BB7D-1F6D28E0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9055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475467"/>
                </a:solidFill>
              </a:defRPr>
            </a:pPr>
            <a:r>
              <a:rPr sz="1275" b="0" i="0">
                <a:solidFill>
                  <a:srgbClr val="475467"/>
                </a:solidFill>
              </a:rPr>
              <a:t>Correct answer, explanation, reference material, and bookmarks.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15E8D0-FB79-4B2A-A014-2D226F84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67085"/>
                </a:solidFill>
              </a:defRPr>
            </a:pPr>
            <a:r>
              <a:rPr sz="825" b="1" i="0">
                <a:solidFill>
                  <a:srgbClr val="667085"/>
                </a:solidFill>
              </a:rPr>
              <a:t>DRILL INSTRUCTOR  •  SCHOOL PARTNERSHIP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B53DF8-1B71-432A-B738-4C2DE37D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67085"/>
                </a:solidFill>
              </a:defRPr>
            </a:pPr>
            <a:r>
              <a:rPr sz="825" b="1" i="0">
                <a:solidFill>
                  <a:srgbClr val="66708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136099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AFEB86-D5AC-4FAB-B5AB-8A0A7F9B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4B5320"/>
                </a:solidFill>
              </a:defRPr>
            </a:pPr>
            <a:r>
              <a:rPr sz="1050" b="1" i="0">
                <a:solidFill>
                  <a:srgbClr val="4B5320"/>
                </a:solidFill>
              </a:rPr>
              <a:t>SOCIAL MOTIVATION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4143A7-E7B2-4491-B6EE-FD8B6C42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01828"/>
                </a:solidFill>
              </a:defRPr>
            </a:pPr>
            <a:r>
              <a:rPr sz="3150" b="1" i="0">
                <a:solidFill>
                  <a:srgbClr val="101828"/>
                </a:solidFill>
              </a:rPr>
              <a:t>Progress becomes visible—and practice becomes social.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39C026-0A7D-4220-9FEC-7C1640C6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4B5320"/>
                </a:solidFill>
              </a:defRPr>
            </a:pPr>
            <a:r>
              <a:rPr sz="1875" b="1" i="0">
                <a:solidFill>
                  <a:srgbClr val="4B5320"/>
                </a:solidFill>
              </a:rPr>
              <a:t>Every graded answer earns points.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D37BD8-8F75-458C-AB07-6A1EA6517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4B5320"/>
                </a:solidFill>
              </a:defRPr>
            </a:pPr>
            <a:r>
              <a:rPr sz="4350" b="1" i="0">
                <a:solidFill>
                  <a:srgbClr val="4B5320"/>
                </a:solidFill>
              </a:rPr>
              <a:t>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5CC84D-3994-4F70-A05E-E7E645AF2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2669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01828"/>
                </a:solidFill>
              </a:defRPr>
            </a:pPr>
            <a:r>
              <a:rPr sz="1500" b="0" i="0">
                <a:solidFill>
                  <a:srgbClr val="101828"/>
                </a:solidFill>
              </a:rPr>
              <a:t>points for a correct answer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FA28D8-3553-4085-B608-E4EE459E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E8B44B"/>
                </a:solidFill>
              </a:defRPr>
            </a:pPr>
            <a:r>
              <a:rPr sz="4350" b="1" i="0">
                <a:solidFill>
                  <a:srgbClr val="E8B44B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EDBD10-E04E-4C9D-9A68-05C7F3CD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76550"/>
            <a:ext cx="319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01828"/>
                </a:solidFill>
              </a:defRPr>
            </a:pPr>
            <a:r>
              <a:rPr sz="1500" b="0" i="0">
                <a:solidFill>
                  <a:srgbClr val="101828"/>
                </a:solidFill>
              </a:rPr>
              <a:t>point for an incorrect attempt—because trying still counts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3B3081-E86F-43B2-941E-9A605AD4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4000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475467"/>
                </a:solidFill>
              </a:defRPr>
            </a:pPr>
            <a:r>
              <a:rPr sz="1425" b="0" i="0">
                <a:solidFill>
                  <a:srgbClr val="475467"/>
                </a:solidFill>
              </a:rPr>
              <a:t>Students rise from Recruit to General, build squads with friends, and compare progress across squad, battalion, and corps.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81FF48-D917-481C-8B02-A1CA0D9D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371600"/>
            <a:ext cx="6572250" cy="219075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8a281cfa64a36"/>
          <a:srcRect xmlns:a="http://schemas.openxmlformats.org/drawingml/2006/main" l="0" t="36883" r="0" b="368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67300" y="1504950"/>
            <a:ext cx="6305550" cy="1924050"/>
          </a:xfrm>
          <a:prstGeom xmlns:a="http://schemas.openxmlformats.org/drawingml/2006/main" prst="roundRect">
            <a:avLst>
              <a:gd name="adj" fmla="val 5941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6E4A1B-DE7F-4E70-A499-01B98251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52850"/>
            <a:ext cx="6572250" cy="219075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630c87266f41f1"/>
          <a:srcRect xmlns:a="http://schemas.openxmlformats.org/drawingml/2006/main" l="0" t="20374" r="0" b="203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67300" y="3886200"/>
            <a:ext cx="6305550" cy="1924050"/>
          </a:xfrm>
          <a:prstGeom xmlns:a="http://schemas.openxmlformats.org/drawingml/2006/main" prst="roundRect">
            <a:avLst>
              <a:gd name="adj" fmla="val 5941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AB5BAE-363D-4CA2-962E-9573F5DF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67085"/>
                </a:solidFill>
              </a:defRPr>
            </a:pPr>
            <a:r>
              <a:rPr sz="825" b="1" i="0">
                <a:solidFill>
                  <a:srgbClr val="667085"/>
                </a:solidFill>
              </a:rPr>
              <a:t>DRILL INSTRUCTOR  •  SCHOOL PARTNERSHIP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272481-436F-4157-A263-1443833F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67085"/>
                </a:solidFill>
              </a:defRPr>
            </a:pPr>
            <a:r>
              <a:rPr sz="825" b="1" i="0">
                <a:solidFill>
                  <a:srgbClr val="667085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619371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07C861-5FBC-488A-81DB-DBA9FC8F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4B5320"/>
                </a:solidFill>
              </a:defRPr>
            </a:pPr>
            <a:r>
              <a:rPr sz="1050" b="1" i="0">
                <a:solidFill>
                  <a:srgbClr val="4B5320"/>
                </a:solidFill>
              </a:rPr>
              <a:t>EDUCATOR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D20F9D-1803-4546-8CD2-AC80DE9A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01828"/>
                </a:solidFill>
              </a:defRPr>
            </a:pPr>
            <a:r>
              <a:rPr sz="3150" b="1" i="0">
                <a:solidFill>
                  <a:srgbClr val="101828"/>
                </a:solidFill>
              </a:rPr>
              <a:t>Assign focused practice without inheriting continuous grading.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6D02D2-5D8F-462A-92BF-65B049C0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6934200" cy="4552950"/>
          </a:xfrm>
          <a:prstGeom xmlns:a="http://schemas.openxmlformats.org/drawingml/2006/main" prst="roundRect">
            <a:avLst>
              <a:gd name="adj" fmla="val 33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6dad5edec4400d"/>
          <a:stretch xmlns:a="http://schemas.openxmlformats.org/drawingml/2006/main"/>
        </p:blipFill>
        <p:spPr>
          <a:xfrm xmlns:a="http://schemas.openxmlformats.org/drawingml/2006/main">
            <a:off x="723900" y="2156802"/>
            <a:ext cx="6629400" cy="3173046"/>
          </a:xfrm>
          <a:prstGeom xmlns:a="http://schemas.openxmlformats.org/drawingml/2006/main" prst="roundRect">
            <a:avLst>
              <a:gd name="adj" fmla="val 26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C0C6A4-CAEA-423E-A74E-E722E209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573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4B5320"/>
                </a:solidFill>
              </a:defRPr>
            </a:pPr>
            <a:r>
              <a:rPr sz="1950" b="1" i="0">
                <a:solidFill>
                  <a:srgbClr val="4B5320"/>
                </a:solidFill>
              </a:rPr>
              <a:t>Browse the question bank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BA82DC-9C8A-46CF-A8D5-ED134A3D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52650"/>
            <a:ext cx="333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475467"/>
                </a:solidFill>
              </a:defRPr>
            </a:pPr>
            <a:r>
              <a:rPr sz="1350" b="0" i="0">
                <a:solidFill>
                  <a:srgbClr val="475467"/>
                </a:solidFill>
              </a:rPr>
              <a:t>Filter by subject, module, and practice test. Inspect questions and explanations before assigning.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D48167-56F1-4647-92B8-5F67A41E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718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4B5320"/>
                </a:solidFill>
              </a:defRPr>
            </a:pPr>
            <a:r>
              <a:rPr sz="1950" b="1" i="0">
                <a:solidFill>
                  <a:srgbClr val="4B5320"/>
                </a:solidFill>
              </a:rPr>
              <a:t>Set the assignment rules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29D8DA-6D41-4CA8-9668-6E8F73C2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67150"/>
            <a:ext cx="333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475467"/>
                </a:solidFill>
              </a:defRPr>
            </a:pPr>
            <a:r>
              <a:rPr sz="1350" b="0" i="0">
                <a:solidFill>
                  <a:srgbClr val="475467"/>
                </a:solidFill>
              </a:rPr>
              <a:t>Choose recipients, due date, score release, correction release, and question-order shuffling.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11E9E0-E840-476F-BAB1-36CAF0F7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863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4B5320"/>
                </a:solidFill>
              </a:defRPr>
            </a:pPr>
            <a:r>
              <a:rPr sz="1950" b="1" i="0">
                <a:solidFill>
                  <a:srgbClr val="4B5320"/>
                </a:solidFill>
              </a:rPr>
              <a:t>Review—without re-grading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85DB2B-85B7-4BF4-8189-D674980D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505450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475467"/>
                </a:solidFill>
              </a:defRPr>
            </a:pPr>
            <a:r>
              <a:rPr sz="1350" b="0" i="0">
                <a:solidFill>
                  <a:srgbClr val="475467"/>
                </a:solidFill>
              </a:rPr>
              <a:t>Submission summaries and corrections are generated from the same server-owned results.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4BADAF-4123-4529-9B1F-9E7936C1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67085"/>
                </a:solidFill>
              </a:defRPr>
            </a:pPr>
            <a:r>
              <a:rPr sz="825" b="1" i="0">
                <a:solidFill>
                  <a:srgbClr val="667085"/>
                </a:solidFill>
              </a:rPr>
              <a:t>DRILL INSTRUCTOR  •  SCHOOL PARTNERSHIP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2527FB-FD04-4E8C-8652-C520F0BD5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67085"/>
                </a:solidFill>
              </a:defRPr>
            </a:pPr>
            <a:r>
              <a:rPr sz="825" b="1" i="0">
                <a:solidFill>
                  <a:srgbClr val="667085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026858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6313AB-EDB5-43D9-9CAE-67912AADD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4B5320"/>
                </a:solidFill>
              </a:defRPr>
            </a:pPr>
            <a:r>
              <a:rPr sz="1050" b="1" i="0">
                <a:solidFill>
                  <a:srgbClr val="4B5320"/>
                </a:solidFill>
              </a:rPr>
              <a:t>ACTIONABLE VISIBILITY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E4BA27-5F40-445C-B89A-4FEF7459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01828"/>
                </a:solidFill>
              </a:defRPr>
            </a:pPr>
            <a:r>
              <a:rPr sz="3150" b="1" i="0">
                <a:solidFill>
                  <a:srgbClr val="101828"/>
                </a:solidFill>
              </a:rPr>
              <a:t>Zoom from group trends to one answer choice.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AF926A-B73D-47D3-B4B0-8DB57F38E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7239000" cy="47625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fe1f8f12b4d9f"/>
          <a:srcRect xmlns:a="http://schemas.openxmlformats.org/drawingml/2006/main" l="0" t="17022" r="0" b="170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" y="1562100"/>
            <a:ext cx="6972300" cy="4495800"/>
          </a:xfrm>
          <a:prstGeom xmlns:a="http://schemas.openxmlformats.org/drawingml/2006/main" prst="roundRect">
            <a:avLst>
              <a:gd name="adj" fmla="val 2542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A110D6-B6DA-4103-8148-2A06E4C69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62200"/>
            <a:ext cx="4229100" cy="32004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8B44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32d8fd0fea4b1f"/>
          <a:srcRect xmlns:a="http://schemas.openxmlformats.org/drawingml/2006/main" l="17792" t="0" r="1779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1900" y="2476500"/>
            <a:ext cx="4000500" cy="2971800"/>
          </a:xfrm>
          <a:prstGeom xmlns:a="http://schemas.openxmlformats.org/drawingml/2006/main" prst="roundRect">
            <a:avLst>
              <a:gd name="adj" fmla="val 384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6D29AD-159E-47ED-8A08-E123607C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621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4B5320"/>
                </a:solidFill>
              </a:defRPr>
            </a:pPr>
            <a:r>
              <a:rPr sz="1050" b="1" i="0">
                <a:solidFill>
                  <a:srgbClr val="4B5320"/>
                </a:solidFill>
              </a:rPr>
              <a:t>WHOLE GROUP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5B8989-F651-4F87-93CF-78F020EF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478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475467"/>
                </a:solidFill>
              </a:defRPr>
            </a:pPr>
            <a:r>
              <a:rPr sz="1350" b="1" i="0">
                <a:solidFill>
                  <a:srgbClr val="475467"/>
                </a:solidFill>
              </a:rPr>
              <a:t>→ subject → module → question → answer choice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40DD70-1E48-4333-843E-8C5D1E61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7721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4B5320"/>
                </a:solidFill>
              </a:defRPr>
            </a:pPr>
            <a:r>
              <a:rPr sz="1425" b="1" i="0">
                <a:solidFill>
                  <a:srgbClr val="4B5320"/>
                </a:solidFill>
              </a:rPr>
              <a:t>Know who needs support—and the concept that needs reteaching.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3794FE-3600-461C-A5C2-A5F563D5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67085"/>
                </a:solidFill>
              </a:defRPr>
            </a:pPr>
            <a:r>
              <a:rPr sz="825" b="1" i="0">
                <a:solidFill>
                  <a:srgbClr val="667085"/>
                </a:solidFill>
              </a:rPr>
              <a:t>DRILL INSTRUCTOR  •  SCHOOL PARTNERSHIP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56B0E1-07DA-4E9F-88FF-F9724686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67085"/>
                </a:solidFill>
              </a:defRPr>
            </a:pPr>
            <a:r>
              <a:rPr sz="825" b="1" i="0">
                <a:solidFill>
                  <a:srgbClr val="667085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745115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4B53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EBF0B9-074E-4A20-9FC3-9A4E4083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E8B44B"/>
                </a:solidFill>
              </a:defRPr>
            </a:pPr>
            <a:r>
              <a:rPr sz="1050" b="1" i="0">
                <a:solidFill>
                  <a:srgbClr val="E8B44B"/>
                </a:solidFill>
              </a:rPr>
              <a:t>SCHOOL TRUST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367F0D-FE64-48E1-A72C-2C29D01A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FFFFFF"/>
                </a:solidFill>
              </a:defRPr>
            </a:pPr>
            <a:r>
              <a:rPr sz="3150" b="1" i="0">
                <a:solidFill>
                  <a:srgbClr val="FFFFFF"/>
                </a:solidFill>
              </a:rPr>
              <a:t>Privacy is a foundation—not an afterthought.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88e456e80e437f"/>
          <a:srcRect xmlns:a="http://schemas.openxmlformats.org/drawingml/2006/main" l="277" t="0" r="27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29300" y="1390650"/>
            <a:ext cx="5676900" cy="1314450"/>
          </a:xfrm>
          <a:prstGeom xmlns:a="http://schemas.openxmlformats.org/drawingml/2006/main" prst="roundRect">
            <a:avLst>
              <a:gd name="adj" fmla="val 8696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A065D8-8EE7-4BB2-92DD-1513265F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8B44B"/>
                </a:solidFill>
              </a:defRPr>
            </a:pPr>
            <a:r>
              <a:rPr sz="1200" b="1" i="0">
                <a:solidFill>
                  <a:srgbClr val="E8B44B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123B5B-2CDC-4E8E-A466-20559347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907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Private by choice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EE3562-3013-4CD7-AB25-EE0245BB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5265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E8EBD8"/>
                </a:solidFill>
              </a:defRPr>
            </a:pPr>
            <a:r>
              <a:rPr sz="1275" b="0" i="0">
                <a:solidFill>
                  <a:srgbClr val="E8EBD8"/>
                </a:solidFill>
              </a:rPr>
              <a:t>Students can keep their profile out of public leaderboards.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415C7B-D97D-491B-9F7C-2FB40F9B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8B44B"/>
                </a:solidFill>
              </a:defRPr>
            </a:pPr>
            <a:r>
              <a:rPr sz="1200" b="1" i="0">
                <a:solidFill>
                  <a:srgbClr val="E8B44B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B12F06-FA02-4B81-BA3A-090AC296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289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Scoped educator access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7656E9-2AED-4A01-B625-438F1524F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9090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E8EBD8"/>
                </a:solidFill>
              </a:defRPr>
            </a:pPr>
            <a:r>
              <a:rPr sz="1275" b="0" i="0">
                <a:solidFill>
                  <a:srgbClr val="E8EBD8"/>
                </a:solidFill>
              </a:rPr>
              <a:t>Limit access by exam, subject, student, or group.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AD7FD6-0749-49A3-9AAB-DE20826A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8B44B"/>
                </a:solidFill>
              </a:defRPr>
            </a:pPr>
            <a:r>
              <a:rPr sz="1200" b="1" i="0">
                <a:solidFill>
                  <a:srgbClr val="E8B44B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C1761D-9B7A-4AFC-AC1F-04BB3C04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2672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Approval before access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66DCBA-E7C0-47A0-A0C4-153A6983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2915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E8EBD8"/>
                </a:solidFill>
              </a:defRPr>
            </a:pPr>
            <a:r>
              <a:rPr sz="1275" b="0" i="0">
                <a:solidFill>
                  <a:srgbClr val="E8EBD8"/>
                </a:solidFill>
              </a:rPr>
              <a:t>Educators require school authorization; approval can be withdrawn.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2C385C-0F7D-43F0-A6D3-F9D17AF00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194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E8B44B"/>
                </a:solidFill>
              </a:defRPr>
            </a:pPr>
            <a:r>
              <a:rPr sz="2100" b="1" i="0">
                <a:solidFill>
                  <a:srgbClr val="E8B44B"/>
                </a:solidFill>
              </a:rPr>
              <a:t>School controls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6668B2-0DF1-486A-873A-8F5C7290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14750"/>
            <a:ext cx="44767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F1F3E8"/>
                </a:solidFill>
              </a:defRPr>
            </a:pPr>
            <a:r>
              <a:rPr sz="1425" b="0" i="0">
                <a:solidFill>
                  <a:srgbClr val="F1F3E8"/>
                </a:solidFill>
              </a:rPr>
              <a:t>• School-wide educator codes</a:t>
            </a:r>
          </a:p>
          <a:p xmlns:a="http://schemas.openxmlformats.org/drawingml/2006/main">
            <a:pPr algn="l">
              <a:defRPr sz="1425" b="0" i="0">
                <a:solidFill>
                  <a:srgbClr val="F1F3E8"/>
                </a:solidFill>
              </a:defRPr>
            </a:pPr>
            <a:r>
              <a:rPr sz="1425" b="0" i="0">
                <a:solidFill>
                  <a:srgbClr val="F1F3E8"/>
                </a:solidFill>
              </a:rPr>
              <a:t>• Admin approval and audit history</a:t>
            </a:r>
          </a:p>
          <a:p xmlns:a="http://schemas.openxmlformats.org/drawingml/2006/main">
            <a:pPr algn="l">
              <a:defRPr sz="1425" b="0" i="0">
                <a:solidFill>
                  <a:srgbClr val="F1F3E8"/>
                </a:solidFill>
              </a:defRPr>
            </a:pPr>
            <a:r>
              <a:rPr sz="1425" b="0" i="0">
                <a:solidFill>
                  <a:srgbClr val="F1F3E8"/>
                </a:solidFill>
              </a:rPr>
              <a:t>• Flexible permission boundaries</a:t>
            </a:r>
          </a:p>
          <a:p xmlns:a="http://schemas.openxmlformats.org/drawingml/2006/main">
            <a:pPr algn="l">
              <a:defRPr sz="1425" b="0" i="0">
                <a:solidFill>
                  <a:srgbClr val="F1F3E8"/>
                </a:solidFill>
              </a:defRPr>
            </a:pPr>
            <a:r>
              <a:rPr sz="1425" b="0" i="0">
                <a:solidFill>
                  <a:srgbClr val="F1F3E8"/>
                </a:solidFill>
              </a:rPr>
              <a:t>• Aggregate solo-practice visibility</a:t>
            </a:r>
          </a:p>
          <a:p xmlns:a="http://schemas.openxmlformats.org/drawingml/2006/main">
            <a:pPr algn="l">
              <a:defRPr sz="1425" b="0" i="0">
                <a:solidFill>
                  <a:srgbClr val="F1F3E8"/>
                </a:solidFill>
              </a:defRPr>
            </a:pPr>
            <a:r>
              <a:rPr sz="1425" b="0" i="0">
                <a:solidFill>
                  <a:srgbClr val="F1F3E8"/>
                </a:solidFill>
              </a:rPr>
              <a:t>• No sale of analytics 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F1B3FC-0B0B-41BA-BF69-46D771F5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676900"/>
            <a:ext cx="5676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B4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35F084-25B1-4668-B847-723BB6431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84835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DCE1C6"/>
                </a:solidFill>
              </a:defRPr>
            </a:pPr>
            <a:r>
              <a:rPr sz="1200" b="0" i="0">
                <a:solidFill>
                  <a:srgbClr val="DCE1C6"/>
                </a:solidFill>
              </a:rPr>
              <a:t>Challenge participants see summary performance—not another student’s per-question answers.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3F8014-3C36-4526-BCC3-590A4265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7DCC0"/>
                </a:solidFill>
              </a:defRPr>
            </a:pPr>
            <a:r>
              <a:rPr sz="825" b="1" i="0">
                <a:solidFill>
                  <a:srgbClr val="D7DCC0"/>
                </a:solidFill>
              </a:rPr>
              <a:t>DRILL INSTRUCTOR  •  SCHOOL PARTNERSHIP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ABB3FE-A7A1-4998-8371-78B08638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D7DCC0"/>
                </a:solidFill>
              </a:defRPr>
            </a:pPr>
            <a:r>
              <a:rPr sz="825" b="1" i="0">
                <a:solidFill>
                  <a:srgbClr val="D7DCC0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213202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3F154D-0796-4D2F-92A9-DBA34170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4B5320"/>
                </a:solidFill>
              </a:defRPr>
            </a:pPr>
            <a:r>
              <a:rPr sz="1050" b="1" i="0">
                <a:solidFill>
                  <a:srgbClr val="4B5320"/>
                </a:solidFill>
              </a:rPr>
              <a:t>A SHARED SUPPORT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CD7756-E669-4116-A615-7FAE0846A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01828"/>
                </a:solidFill>
              </a:defRPr>
            </a:pPr>
            <a:r>
              <a:rPr sz="3150" b="1" i="0">
                <a:solidFill>
                  <a:srgbClr val="101828"/>
                </a:solidFill>
              </a:rPr>
              <a:t>Parents can reinforce consistency without hovering over every question.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FF386-7269-4C95-AE52-B196C0619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428750"/>
            <a:ext cx="50673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9f2191f18e4e1b"/>
          <a:srcRect xmlns:a="http://schemas.openxmlformats.org/drawingml/2006/main" l="22042" t="0" r="220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91300" y="1581150"/>
            <a:ext cx="4762500" cy="4076700"/>
          </a:xfrm>
          <a:prstGeom xmlns:a="http://schemas.openxmlformats.org/drawingml/2006/main" prst="roundRect">
            <a:avLst>
              <a:gd name="adj" fmla="val 2804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6F1E45-E8FF-4A97-804D-319C49F4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8B44B"/>
                </a:solidFill>
              </a:defRPr>
            </a:pPr>
            <a:r>
              <a:rPr sz="1200" b="1" i="0">
                <a:solidFill>
                  <a:srgbClr val="E8B44B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494B5A-5402-423B-A94A-13C1D495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288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8"/>
                </a:solidFill>
              </a:defRPr>
            </a:pPr>
            <a:r>
              <a:rPr sz="1800" b="1" i="0">
                <a:solidFill>
                  <a:srgbClr val="101828"/>
                </a:solidFill>
              </a:rPr>
              <a:t>See the effort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AAA7A9-621A-4879-9BBB-19EA641E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9075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475467"/>
                </a:solidFill>
              </a:defRPr>
            </a:pPr>
            <a:r>
              <a:rPr sz="1275" b="0" i="0">
                <a:solidFill>
                  <a:srgbClr val="475467"/>
                </a:solidFill>
              </a:rPr>
              <a:t>Sessions, questions, and timing make practice visible.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0AD338-7A1A-477F-9A50-9B0AD4B90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8B44B"/>
                </a:solidFill>
              </a:defRPr>
            </a:pPr>
            <a:r>
              <a:rPr sz="1200" b="1" i="0">
                <a:solidFill>
                  <a:srgbClr val="E8B44B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1DD277-C48E-4249-9D75-E66BF4B6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242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8"/>
                </a:solidFill>
              </a:defRPr>
            </a:pPr>
            <a:r>
              <a:rPr sz="1800" b="1" i="0">
                <a:solidFill>
                  <a:srgbClr val="101828"/>
                </a:solidFill>
              </a:rPr>
              <a:t>See the direction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05B74C-6413-4C90-879F-0743523F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8615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475467"/>
                </a:solidFill>
              </a:defRPr>
            </a:pPr>
            <a:r>
              <a:rPr sz="1275" b="0" i="0">
                <a:solidFill>
                  <a:srgbClr val="475467"/>
                </a:solidFill>
              </a:rPr>
              <a:t>Accuracy, coverage, and suggested practice clarify what comes next.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E1B4CA-7FD8-4D75-9038-AB13F6DE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8B44B"/>
                </a:solidFill>
              </a:defRPr>
            </a:pPr>
            <a:r>
              <a:rPr sz="1200" b="1" i="0">
                <a:solidFill>
                  <a:srgbClr val="E8B44B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A8A2CE-A6E4-4D78-9DE6-93833F3B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196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8"/>
                </a:solidFill>
              </a:defRPr>
            </a:pPr>
            <a:r>
              <a:rPr sz="1800" b="1" i="0">
                <a:solidFill>
                  <a:srgbClr val="101828"/>
                </a:solidFill>
              </a:rPr>
              <a:t>Support the habit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93ABCB-BB68-4EC7-AD8A-A2AACBE92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8155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475467"/>
                </a:solidFill>
              </a:defRPr>
            </a:pPr>
            <a:r>
              <a:rPr sz="1275" b="0" i="0">
                <a:solidFill>
                  <a:srgbClr val="475467"/>
                </a:solidFill>
              </a:rPr>
              <a:t>A parent can use the student’s account to follow progress at home.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B9C90B-BEDE-453C-86FB-1A5BCA93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4B5320"/>
                </a:solidFill>
              </a:defRPr>
            </a:pPr>
            <a:r>
              <a:rPr sz="1650" b="1" i="0">
                <a:solidFill>
                  <a:srgbClr val="4B5320"/>
                </a:solidFill>
              </a:rPr>
              <a:t>One practice record. Multiple adults supporting the same goal.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06E873-C101-42F2-9C7D-778F8EF3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67085"/>
                </a:solidFill>
              </a:defRPr>
            </a:pPr>
            <a:r>
              <a:rPr sz="825" b="1" i="0">
                <a:solidFill>
                  <a:srgbClr val="667085"/>
                </a:solidFill>
              </a:rPr>
              <a:t>DRILL INSTRUCTOR  •  SCHOOL PARTNERSHIP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245B0F-AA35-46AB-8EF3-519B0F0B4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67085"/>
                </a:solidFill>
              </a:defRPr>
            </a:pPr>
            <a:r>
              <a:rPr sz="825" b="1" i="0">
                <a:solidFill>
                  <a:srgbClr val="667085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2558672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3F437B-6764-419B-8E76-98EF3FAA4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4B5320"/>
                </a:solidFill>
              </a:defRPr>
            </a:pPr>
            <a:r>
              <a:rPr sz="1050" b="1" i="0">
                <a:solidFill>
                  <a:srgbClr val="4B5320"/>
                </a:solidFill>
              </a:rPr>
              <a:t>ACCESS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DAC118-AD86-46FB-9AAE-C3BFD2EC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01828"/>
                </a:solidFill>
              </a:defRPr>
            </a:pPr>
            <a:r>
              <a:rPr sz="3150" b="1" i="0">
                <a:solidFill>
                  <a:srgbClr val="101828"/>
                </a:solidFill>
              </a:rPr>
              <a:t>Start free. Add student and educator access as needed.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C57B43-0343-4D28-BEB4-9AA605B1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475467"/>
                </a:solidFill>
              </a:defRPr>
            </a:pPr>
            <a:r>
              <a:rPr sz="1200" b="1" i="0">
                <a:solidFill>
                  <a:srgbClr val="475467"/>
                </a:solidFill>
              </a:rPr>
              <a:t>FREE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9261B8-9FED-406E-AA22-CB00B034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475467"/>
                </a:solidFill>
              </a:defRPr>
            </a:pPr>
            <a:r>
              <a:rPr sz="4050" b="1" i="0">
                <a:solidFill>
                  <a:srgbClr val="475467"/>
                </a:solidFill>
              </a:rPr>
              <a:t>$0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29598-7876-4656-9476-F1FCD2302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475467"/>
                </a:solidFill>
              </a:defRPr>
            </a:pPr>
            <a:r>
              <a:rPr sz="1275" b="0" i="0">
                <a:solidFill>
                  <a:srgbClr val="475467"/>
                </a:solidFill>
              </a:rPr>
              <a:t>Explore the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933FD6-71D9-48E4-939F-2F9D54C59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E8B44B"/>
                </a:solidFill>
              </a:defRPr>
            </a:pPr>
            <a:r>
              <a:rPr sz="1500" b="1" i="0">
                <a:solidFill>
                  <a:srgbClr val="E8B44B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B22D90-FAC3-4086-9294-A7ED8FC1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05200"/>
            <a:ext cx="262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1828"/>
                </a:solidFill>
              </a:defRPr>
            </a:pPr>
            <a:r>
              <a:rPr sz="1275" b="0" i="0">
                <a:solidFill>
                  <a:srgbClr val="101828"/>
                </a:solidFill>
              </a:rPr>
              <a:t>Practice Tests 1–2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3D283C-09EC-440C-B728-304AEC81D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E8B44B"/>
                </a:solidFill>
              </a:defRPr>
            </a:pPr>
            <a:r>
              <a:rPr sz="1500" b="1" i="0">
                <a:solidFill>
                  <a:srgbClr val="E8B44B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47F91F-D8F4-4715-8ABA-74C16AC0E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19550"/>
            <a:ext cx="262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1828"/>
                </a:solidFill>
              </a:defRPr>
            </a:pPr>
            <a:r>
              <a:rPr sz="1275" b="0" i="0">
                <a:solidFill>
                  <a:srgbClr val="101828"/>
                </a:solidFill>
              </a:rPr>
              <a:t>Basic review tools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57D3CF-EBA8-4176-AC73-C178DFFE3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E8B44B"/>
                </a:solidFill>
              </a:defRPr>
            </a:pPr>
            <a:r>
              <a:rPr sz="1500" b="1" i="0">
                <a:solidFill>
                  <a:srgbClr val="E8B44B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9C0034-5E98-4E25-B9AC-9D21CBA85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33900"/>
            <a:ext cx="262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1828"/>
                </a:solidFill>
              </a:defRPr>
            </a:pPr>
            <a:r>
              <a:rPr sz="1275" b="0" i="0">
                <a:solidFill>
                  <a:srgbClr val="101828"/>
                </a:solidFill>
              </a:rPr>
              <a:t>Limited progress tracking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A9D9B0-1686-47EA-98AF-CD2B6550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657350"/>
            <a:ext cx="190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D7AABB-AD3E-4367-B913-525FC5D0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335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4B5320"/>
                </a:solidFill>
              </a:defRPr>
            </a:pPr>
            <a:r>
              <a:rPr sz="1200" b="1" i="0">
                <a:solidFill>
                  <a:srgbClr val="4B5320"/>
                </a:solidFill>
              </a:rPr>
              <a:t>PREMIUM STUDENT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A3AB60-40D1-47A1-A59D-4705A5CB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9075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4B5320"/>
                </a:solidFill>
              </a:defRPr>
            </a:pPr>
            <a:r>
              <a:rPr sz="4050" b="1" i="0">
                <a:solidFill>
                  <a:srgbClr val="4B5320"/>
                </a:solidFill>
              </a:rPr>
              <a:t>$6.99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08A113-D7C0-4150-8FD0-BCE9B5FA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8765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475467"/>
                </a:solidFill>
              </a:defRPr>
            </a:pPr>
            <a:r>
              <a:rPr sz="1275" b="0" i="0">
                <a:solidFill>
                  <a:srgbClr val="475467"/>
                </a:solidFill>
              </a:rPr>
              <a:t>monthly · $49.99 yearly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45CC41-28EA-4699-A09D-0625F5A1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242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E8B44B"/>
                </a:solidFill>
              </a:defRPr>
            </a:pPr>
            <a:r>
              <a:rPr sz="1500" b="1" i="0">
                <a:solidFill>
                  <a:srgbClr val="E8B44B"/>
                </a:solidFill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E58530-4F21-4B52-9E01-21D91B345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505200"/>
            <a:ext cx="262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1828"/>
                </a:solidFill>
              </a:defRPr>
            </a:pPr>
            <a:r>
              <a:rPr sz="1275" b="0" i="0">
                <a:solidFill>
                  <a:srgbClr val="101828"/>
                </a:solidFill>
              </a:rPr>
              <a:t>One selected exam program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C7C165-2271-4ADB-8F72-8DEC60DC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3860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E8B44B"/>
                </a:solidFill>
              </a:defRPr>
            </a:pPr>
            <a:r>
              <a:rPr sz="1500" b="1" i="0">
                <a:solidFill>
                  <a:srgbClr val="E8B44B"/>
                </a:solidFill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EEB518-8172-4080-97CB-9FC6762C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19550"/>
            <a:ext cx="262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1828"/>
                </a:solidFill>
              </a:defRPr>
            </a:pPr>
            <a:r>
              <a:rPr sz="1275" b="0" i="0">
                <a:solidFill>
                  <a:srgbClr val="101828"/>
                </a:solidFill>
              </a:rPr>
              <a:t>Full practice and explanations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CB4B62-3857-4099-8C04-31D17ACA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5529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E8B44B"/>
                </a:solidFill>
              </a:defRPr>
            </a:pPr>
            <a:r>
              <a:rPr sz="1500" b="1" i="0">
                <a:solidFill>
                  <a:srgbClr val="E8B44B"/>
                </a:solidFill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08293C-599C-4022-B779-B603E1A6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533900"/>
            <a:ext cx="262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1828"/>
                </a:solidFill>
              </a:defRPr>
            </a:pPr>
            <a:r>
              <a:rPr sz="1275" b="0" i="0">
                <a:solidFill>
                  <a:srgbClr val="101828"/>
                </a:solidFill>
              </a:rPr>
              <a:t>Bookmarks and challenges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A3C61F-997A-455B-861B-70B3F15E6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57350"/>
            <a:ext cx="190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688CBE-F903-4D53-B414-7A31BF6D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7335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4B5320"/>
                </a:solidFill>
              </a:defRPr>
            </a:pPr>
            <a:r>
              <a:rPr sz="1200" b="1" i="0">
                <a:solidFill>
                  <a:srgbClr val="4B5320"/>
                </a:solidFill>
              </a:rPr>
              <a:t>EDUCATOR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689F78-EEC3-4344-97D4-562EC821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9075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4B5320"/>
                </a:solidFill>
              </a:defRPr>
            </a:pPr>
            <a:r>
              <a:rPr sz="4050" b="1" i="0">
                <a:solidFill>
                  <a:srgbClr val="4B5320"/>
                </a:solidFill>
              </a:rPr>
              <a:t>$99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1B2F22-C780-4C48-9AD6-FC8B9D0F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765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475467"/>
                </a:solidFill>
              </a:defRPr>
            </a:pPr>
            <a:r>
              <a:rPr sz="1275" b="0" i="0">
                <a:solidFill>
                  <a:srgbClr val="475467"/>
                </a:solidFill>
              </a:rPr>
              <a:t>yearly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5E008B-EDE8-421C-8A45-9F5AC7D4B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242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E8B44B"/>
                </a:solidFill>
              </a:defRPr>
            </a:pPr>
            <a:r>
              <a:rPr sz="1500" b="1" i="0">
                <a:solidFill>
                  <a:srgbClr val="E8B44B"/>
                </a:solidFill>
              </a:rPr>
              <a:t>•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A116DD-E207-4660-8960-5429B756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505200"/>
            <a:ext cx="262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1828"/>
                </a:solidFill>
              </a:defRPr>
            </a:pPr>
            <a:r>
              <a:rPr sz="1275" b="0" i="0">
                <a:solidFill>
                  <a:srgbClr val="101828"/>
                </a:solidFill>
              </a:rPr>
              <a:t>One selected exam program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6AB0AC-0A2F-4246-AB3B-26424CFC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3860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E8B44B"/>
                </a:solidFill>
              </a:defRPr>
            </a:pPr>
            <a:r>
              <a:rPr sz="1500" b="1" i="0">
                <a:solidFill>
                  <a:srgbClr val="E8B44B"/>
                </a:solidFill>
              </a:rPr>
              <a:t>•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1FAED2-8A75-4AF5-9F7C-E9B305C0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19550"/>
            <a:ext cx="262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1828"/>
                </a:solidFill>
              </a:defRPr>
            </a:pPr>
            <a:r>
              <a:rPr sz="1275" b="0" i="0">
                <a:solidFill>
                  <a:srgbClr val="101828"/>
                </a:solidFill>
              </a:rPr>
              <a:t>Unlimited linked students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225D67-1D52-4971-B2B2-C7B33A59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529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E8B44B"/>
                </a:solidFill>
              </a:defRPr>
            </a:pPr>
            <a:r>
              <a:rPr sz="1500" b="1" i="0">
                <a:solidFill>
                  <a:srgbClr val="E8B44B"/>
                </a:solidFill>
              </a:rPr>
              <a:t>•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C610E7-57B5-410C-8252-88811861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533900"/>
            <a:ext cx="262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1828"/>
                </a:solidFill>
              </a:defRPr>
            </a:pPr>
            <a:r>
              <a:rPr sz="1275" b="0" i="0">
                <a:solidFill>
                  <a:srgbClr val="101828"/>
                </a:solidFill>
              </a:rPr>
              <a:t>Groups, assignments, and monitoring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846D20-1724-4A67-829F-0E7B1E2F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8204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EF1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0A2DB1-8B64-43AB-9F8B-C48F6234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53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4B5320"/>
                </a:solidFill>
              </a:defRPr>
            </a:pPr>
            <a:r>
              <a:rPr sz="1350" b="1" i="0">
                <a:solidFill>
                  <a:srgbClr val="4B5320"/>
                </a:solidFill>
              </a:rPr>
              <a:t>For schools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00044C-3879-4CBD-81C1-C134365D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69595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475467"/>
                </a:solidFill>
              </a:defRPr>
            </a:pPr>
            <a:r>
              <a:rPr sz="1275" b="0" i="0">
                <a:solidFill>
                  <a:srgbClr val="475467"/>
                </a:solidFill>
              </a:rPr>
              <a:t>Student premium access and educator access are licensed separately. Schools can distribute student access through codes or an approved roster.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11DA13-B7D8-4269-B8E2-F1119DF7D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67085"/>
                </a:solidFill>
              </a:defRPr>
            </a:pPr>
            <a:r>
              <a:rPr sz="825" b="1" i="0">
                <a:solidFill>
                  <a:srgbClr val="667085"/>
                </a:solidFill>
              </a:rPr>
              <a:t>DRILL INSTRUCTOR  •  SCHOOL PARTNERSHIP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A55FEF-AAA0-42D2-8EB2-9B6B9C85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67085"/>
                </a:solidFill>
              </a:defRPr>
            </a:pPr>
            <a:r>
              <a:rPr sz="825" b="1" i="0">
                <a:solidFill>
                  <a:srgbClr val="667085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4109263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381E72-82EA-404A-90B0-D58010EFE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4B5320"/>
                </a:solidFill>
              </a:defRPr>
            </a:pPr>
            <a:r>
              <a:rPr sz="1050" b="1" i="0">
                <a:solidFill>
                  <a:srgbClr val="4B5320"/>
                </a:solidFill>
              </a:rPr>
              <a:t>BUILT FOR ADOPTION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176B8F-7500-4D4B-87C1-61096630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01828"/>
                </a:solidFill>
              </a:defRPr>
            </a:pPr>
            <a:r>
              <a:rPr sz="3150" b="1" i="0">
                <a:solidFill>
                  <a:srgbClr val="101828"/>
                </a:solidFill>
              </a:rPr>
              <a:t>A school can start focused—and expand when the routine works.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AE310A-5EDE-4EFA-8576-77B49100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4B5320"/>
                </a:solidFill>
              </a:defRPr>
            </a:pPr>
            <a:r>
              <a:rPr sz="1200" b="1" i="0">
                <a:solidFill>
                  <a:srgbClr val="4B5320"/>
                </a:solidFill>
              </a:rPr>
              <a:t>WEB + MOBILE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40806-2B41-42E6-84A1-C0910196C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475467"/>
                </a:solidFill>
              </a:defRPr>
            </a:pPr>
            <a:r>
              <a:rPr sz="1350" b="0" i="0">
                <a:solidFill>
                  <a:srgbClr val="475467"/>
                </a:solidFill>
              </a:rPr>
              <a:t>Students practice where they already study.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8D8116-F49D-4DF3-8E2D-4EF2BE0B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8097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4B5320"/>
                </a:solidFill>
              </a:defRPr>
            </a:pPr>
            <a:r>
              <a:rPr sz="1200" b="1" i="0">
                <a:solidFill>
                  <a:srgbClr val="4B5320"/>
                </a:solidFill>
              </a:rPr>
              <a:t>ONE SHARED RECORD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12E96A-41F3-4DC8-B77F-86711F99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1526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475467"/>
                </a:solidFill>
              </a:defRPr>
            </a:pPr>
            <a:r>
              <a:rPr sz="1350" b="0" i="0">
                <a:solidFill>
                  <a:srgbClr val="475467"/>
                </a:solidFill>
              </a:rPr>
              <a:t>Results and analytics stay consistent across platforms.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595B0D-D05C-4D34-8193-D7EDAB6C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8097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4B5320"/>
                </a:solidFill>
              </a:defRPr>
            </a:pPr>
            <a:r>
              <a:rPr sz="1200" b="1" i="0">
                <a:solidFill>
                  <a:srgbClr val="4B5320"/>
                </a:solidFill>
              </a:rPr>
              <a:t>FLEXIBLE ACCESS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E1B6E2-831F-4BEF-ABFA-82707639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526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475467"/>
                </a:solidFill>
              </a:defRPr>
            </a:pPr>
            <a:r>
              <a:rPr sz="1350" b="0" i="0">
                <a:solidFill>
                  <a:srgbClr val="475467"/>
                </a:solidFill>
              </a:rPr>
              <a:t>Start with one exam, one group, or one educator.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849B3C-71AD-4EFD-A798-77BB5952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14650"/>
            <a:ext cx="5334000" cy="2857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25b25641b64650"/>
          <a:srcRect xmlns:a="http://schemas.openxmlformats.org/drawingml/2006/main" l="0" t="718" r="0" b="7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" y="3067050"/>
            <a:ext cx="5029200" cy="2552700"/>
          </a:xfrm>
          <a:prstGeom xmlns:a="http://schemas.openxmlformats.org/drawingml/2006/main" prst="roundRect">
            <a:avLst>
              <a:gd name="adj" fmla="val 4478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FE18DD-9FF2-4F2C-A056-46A73C3F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334000" cy="2857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ee7215422e4a08"/>
          <a:srcRect xmlns:a="http://schemas.openxmlformats.org/drawingml/2006/main" l="2863" t="0" r="286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38900" y="3067050"/>
            <a:ext cx="5029200" cy="2552700"/>
          </a:xfrm>
          <a:prstGeom xmlns:a="http://schemas.openxmlformats.org/drawingml/2006/main" prst="roundRect">
            <a:avLst>
              <a:gd name="adj" fmla="val 4478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010D2D-D853-49BE-9207-65C730DB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94360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4B5320"/>
                </a:solidFill>
              </a:defRPr>
            </a:pPr>
            <a:r>
              <a:rPr sz="1650" b="1" i="0">
                <a:solidFill>
                  <a:srgbClr val="4B5320"/>
                </a:solidFill>
              </a:rPr>
              <a:t>A familiar product across roles—without forcing the same workflow on everyone.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58CA9A-0334-44AA-ACFB-1F26D1A9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67085"/>
                </a:solidFill>
              </a:defRPr>
            </a:pPr>
            <a:r>
              <a:rPr sz="825" b="1" i="0">
                <a:solidFill>
                  <a:srgbClr val="667085"/>
                </a:solidFill>
              </a:rPr>
              <a:t>DRILL INSTRUCTOR  •  SCHOOL PARTNERSHIP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7D7277-D33D-4CF9-8641-72866936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67085"/>
                </a:solidFill>
              </a:defRPr>
            </a:pPr>
            <a:r>
              <a:rPr sz="825" b="1" i="0">
                <a:solidFill>
                  <a:srgbClr val="667085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3619729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4B53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0BE117-E32B-4E3B-8DAF-D5B3BBFC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B44B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6b738dd2d94d39"/>
          <a:stretch xmlns:a="http://schemas.openxmlformats.org/drawingml/2006/main"/>
        </p:blipFill>
        <p:spPr>
          <a:xfrm xmlns:a="http://schemas.openxmlformats.org/drawingml/2006/main">
            <a:off x="876300" y="739791"/>
            <a:ext cx="685800" cy="654017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E1A71E-5685-44FE-BBC9-2F642330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866775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DRILL INSTRUCTOR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227656-A52F-4C7F-AFF6-174B0B0F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666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 i="0">
                <a:solidFill>
                  <a:srgbClr val="FFFFFF"/>
                </a:solidFill>
              </a:defRPr>
            </a:pPr>
            <a:r>
              <a:rPr sz="4800" b="1" i="0">
                <a:solidFill>
                  <a:srgbClr val="FFFFFF"/>
                </a:solidFill>
              </a:rPr>
              <a:t>Questions?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569F63-C5E4-428B-8308-F087BB08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E5E9D5"/>
                </a:solidFill>
              </a:defRPr>
            </a:pPr>
            <a:r>
              <a:rPr sz="2100" b="1" i="0">
                <a:solidFill>
                  <a:srgbClr val="E5E9D5"/>
                </a:solidFill>
              </a:rPr>
              <a:t>Let’s walk through a live student and educator demo.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F672E4-4EE5-4C93-A6BC-1A29F7E8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43400"/>
            <a:ext cx="209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B4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E39D56-DD0B-4E05-891A-5307F886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482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E8B44B"/>
                </a:solidFill>
              </a:defRPr>
            </a:pPr>
            <a:r>
              <a:rPr sz="1650" b="1" i="0">
                <a:solidFill>
                  <a:srgbClr val="E8B44B"/>
                </a:solidFill>
              </a:rPr>
              <a:t>drillinstructorprep.com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13695D-2F6F-4CA0-BF3E-B716DF97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197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DCE1C6"/>
                </a:solidFill>
              </a:defRPr>
            </a:pPr>
            <a:r>
              <a:rPr sz="1500" b="0" i="0">
                <a:solidFill>
                  <a:srgbClr val="DCE1C6"/>
                </a:solidFill>
              </a:rPr>
              <a:t>Practice. Review. Improve.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D045E9-DBAB-4C6E-9E57-E0EE8776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DCE1C6"/>
                </a:solidFill>
              </a:defRPr>
            </a:pPr>
            <a:r>
              <a:rPr sz="900" b="1" i="0">
                <a:solidFill>
                  <a:srgbClr val="DCE1C6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052460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2026-08-10T03:40:45.3460000Z</dcterms:created>
  <dcterms:modified xsi:type="dcterms:W3CDTF">2026-08-10T03:40:45.3470000Z</dcterms:modified>
</coreProperties>
</file>