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1" r:id="rId8"/>
    <p:sldId id="262" r:id="rId9"/>
    <p:sldId id="263" r:id="rId10"/>
    <p:sldId id="267" r:id="rId11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First-party product screenshot: public-home-hero.png.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Problem framing supplied by the product founder; no external statistics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Product positioning and naming rationale supplied by the founder.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First-party screenshots: student-drill-builder.png and student-review-full.png.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First-party screenshot: educator-question-browser.png.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First-party screenshots: educator-group-analytics.png and educator-question-performance.png.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First-party screenshot: educator-admin-summary.png.</a:t>
            </a:r>
          </a:p>
          <a:p>
            <a:r>
              <a:t>- Privacy and permission statements are based on the implemented product requirements supplied by the founder.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First-party Drill Instructor brand and product domain.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/>
          <a:lstStyle>
            <a:lvl1pPr algn="ctr">
              <a:defRPr sz="3200">
                <a:solidFill>
                  <a:srgbClr val="333333"/>
                </a:solidFill>
              </a:defRPr>
            </a:lvl1pPr>
          </a:lstStyle>
          <a:p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5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Rectangles 1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5320"/>
          </a:solidFill>
          <a:ln w="0">
            <a:noFill/>
            <a:prstDash val="solid"/>
          </a:ln>
        </p:spPr>
      </p:sp>
      <p:sp>
        <p:nvSpPr>
          <p:cNvPr id="6" name="Rectangles 5"/>
          <p:cNvSpPr>
            <a:spLocks noGrp="1"/>
          </p:cNvSpPr>
          <p:nvPr/>
        </p:nvSpPr>
        <p:spPr>
          <a:xfrm>
            <a:off x="1428750" y="657225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 i="0">
                <a:solidFill>
                  <a:srgbClr val="FFFFFF"/>
                </a:solidFill>
              </a:defRPr>
            </a:pPr>
            <a:r>
              <a:rPr sz="2800" b="1" i="0">
                <a:solidFill>
                  <a:srgbClr val="FFFFFF"/>
                </a:solidFill>
              </a:rPr>
              <a:t>DRILL INSTRUCTOR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7" name="Rectangles 6"/>
          <p:cNvSpPr>
            <a:spLocks noGrp="1"/>
          </p:cNvSpPr>
          <p:nvPr/>
        </p:nvSpPr>
        <p:spPr>
          <a:xfrm>
            <a:off x="685800" y="1638300"/>
            <a:ext cx="56197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 i="0">
                <a:solidFill>
                  <a:srgbClr val="FFFFFF"/>
                </a:solidFill>
              </a:defRPr>
            </a:pPr>
            <a:r>
              <a:rPr sz="4400" b="1" i="0">
                <a:solidFill>
                  <a:srgbClr val="FFFFFF"/>
                </a:solidFill>
              </a:rPr>
              <a:t>Practice. Review.</a:t>
            </a:r>
            <a:endParaRPr sz="4400" b="1" i="0">
              <a:solidFill>
                <a:srgbClr val="FFFFFF"/>
              </a:solidFill>
            </a:endParaRPr>
          </a:p>
          <a:p>
            <a:pPr algn="l">
              <a:defRPr sz="4050" b="1" i="0">
                <a:solidFill>
                  <a:srgbClr val="FFFFFF"/>
                </a:solidFill>
              </a:defRPr>
            </a:pPr>
            <a:r>
              <a:rPr sz="4400" b="1" i="0">
                <a:solidFill>
                  <a:srgbClr val="FFFFFF"/>
                </a:solidFill>
              </a:rPr>
              <a:t>Improve.</a:t>
            </a:r>
            <a:endParaRPr sz="4400" b="1" i="0">
              <a:solidFill>
                <a:srgbClr val="FFFFFF"/>
              </a:solidFill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685800" y="3354070"/>
            <a:ext cx="538162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 i="0">
                <a:solidFill>
                  <a:srgbClr val="E9ECD8"/>
                </a:solidFill>
              </a:defRPr>
            </a:pPr>
            <a:r>
              <a:rPr sz="2400" b="1" i="0">
                <a:solidFill>
                  <a:srgbClr val="E9ECD8"/>
                </a:solidFill>
              </a:rPr>
              <a:t>Practice smarter for the tests that matter.</a:t>
            </a:r>
            <a:endParaRPr sz="2400" b="1" i="0">
              <a:solidFill>
                <a:srgbClr val="E9ECD8"/>
              </a:solidFill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685800" y="4019550"/>
            <a:ext cx="5143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D7DCC0"/>
                </a:solidFill>
              </a:defRPr>
            </a:pPr>
            <a:r>
              <a:rPr sz="1500" b="0" i="0">
                <a:solidFill>
                  <a:srgbClr val="D7DCC0"/>
                </a:solidFill>
              </a:rPr>
              <a:t>A structured exam-preparation platform for students, educators, and schools.</a:t>
            </a:r>
            <a:endParaRPr sz="1500" b="0" i="0">
              <a:solidFill>
                <a:srgbClr val="D7DCC0"/>
              </a:solidFill>
            </a:endParaRPr>
          </a:p>
        </p:txBody>
      </p:sp>
      <p:sp>
        <p:nvSpPr>
          <p:cNvPr id="10" name="Rectangles 9"/>
          <p:cNvSpPr>
            <a:spLocks noGrp="1"/>
          </p:cNvSpPr>
          <p:nvPr/>
        </p:nvSpPr>
        <p:spPr>
          <a:xfrm>
            <a:off x="685800" y="5238750"/>
            <a:ext cx="1752600" cy="47625"/>
          </a:xfrm>
          <a:prstGeom prst="rect">
            <a:avLst/>
          </a:prstGeom>
          <a:solidFill>
            <a:srgbClr val="E8B44B"/>
          </a:solidFill>
          <a:ln w="0">
            <a:noFill/>
            <a:prstDash val="solid"/>
          </a:ln>
        </p:spPr>
      </p:sp>
      <p:sp>
        <p:nvSpPr>
          <p:cNvPr id="11" name="Rectangles 10"/>
          <p:cNvSpPr>
            <a:spLocks noGrp="1"/>
          </p:cNvSpPr>
          <p:nvPr/>
        </p:nvSpPr>
        <p:spPr>
          <a:xfrm>
            <a:off x="685800" y="5467350"/>
            <a:ext cx="3238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E8B44B"/>
                </a:solidFill>
              </a:defRPr>
            </a:pPr>
            <a:r>
              <a:rPr sz="1125" b="1" i="0">
                <a:solidFill>
                  <a:srgbClr val="E8B44B"/>
                </a:solidFill>
              </a:rPr>
              <a:t>SCHOOL PARTNERSHIP</a:t>
            </a:r>
            <a:endParaRPr sz="1125" b="1" i="0">
              <a:solidFill>
                <a:srgbClr val="E8B44B"/>
              </a:solidFill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685800" y="58102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 i="0">
                <a:solidFill>
                  <a:srgbClr val="D7DCC0"/>
                </a:solidFill>
              </a:defRPr>
            </a:pPr>
            <a:r>
              <a:rPr sz="975" b="0" i="0">
                <a:solidFill>
                  <a:srgbClr val="D7DCC0"/>
                </a:solidFill>
              </a:rPr>
              <a:t>2026</a:t>
            </a:r>
            <a:endParaRPr sz="975" b="0" i="0">
              <a:solidFill>
                <a:srgbClr val="D7DCC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435" y="476885"/>
            <a:ext cx="5532120" cy="586549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95325" y="621665"/>
            <a:ext cx="720090" cy="72009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445" y="693134"/>
            <a:ext cx="590550" cy="5631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Rectangles 14"/>
          <p:cNvSpPr>
            <a:spLocks noGrp="1"/>
          </p:cNvSpPr>
          <p:nvPr/>
        </p:nvSpPr>
        <p:spPr>
          <a:xfrm>
            <a:off x="685800" y="4953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4B5320"/>
                </a:solidFill>
              </a:defRPr>
            </a:pPr>
            <a:r>
              <a:rPr sz="1050" b="1" i="0">
                <a:solidFill>
                  <a:srgbClr val="4B5320"/>
                </a:solidFill>
              </a:rPr>
              <a:t>THE PREPARATION GAP</a:t>
            </a:r>
            <a:endParaRPr sz="1050" b="1" i="0">
              <a:solidFill>
                <a:srgbClr val="4B5320"/>
              </a:solidFill>
            </a:endParaRPr>
          </a:p>
        </p:txBody>
      </p:sp>
      <p:sp>
        <p:nvSpPr>
          <p:cNvPr id="2" name="Rectangles 1"/>
          <p:cNvSpPr>
            <a:spLocks noGrp="1"/>
          </p:cNvSpPr>
          <p:nvPr/>
        </p:nvSpPr>
        <p:spPr>
          <a:xfrm>
            <a:off x="685800" y="7810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01828"/>
                </a:solidFill>
              </a:defRPr>
            </a:pPr>
            <a:r>
              <a:rPr sz="3150" b="1" i="0">
                <a:solidFill>
                  <a:srgbClr val="101828"/>
                </a:solidFill>
              </a:rPr>
              <a:t>Practice generates answers. Schools need insight.</a:t>
            </a:r>
            <a:endParaRPr sz="3150" b="1" i="0">
              <a:solidFill>
                <a:srgbClr val="101828"/>
              </a:solidFill>
            </a:endParaRPr>
          </a:p>
        </p:txBody>
      </p:sp>
      <p:sp>
        <p:nvSpPr>
          <p:cNvPr id="3" name="Rectangles 2"/>
          <p:cNvSpPr>
            <a:spLocks noGrp="1"/>
          </p:cNvSpPr>
          <p:nvPr/>
        </p:nvSpPr>
        <p:spPr>
          <a:xfrm>
            <a:off x="685800" y="1447800"/>
            <a:ext cx="685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 i="0">
                <a:solidFill>
                  <a:srgbClr val="475467"/>
                </a:solidFill>
              </a:defRPr>
            </a:pPr>
            <a:r>
              <a:rPr sz="1650" b="0" i="0">
                <a:solidFill>
                  <a:srgbClr val="475467"/>
                </a:solidFill>
              </a:rPr>
              <a:t>The work is happening—but the signal is often lost.</a:t>
            </a:r>
            <a:endParaRPr sz="1650" b="0" i="0">
              <a:solidFill>
                <a:srgbClr val="475467"/>
              </a:solidFill>
            </a:endParaR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685800" y="2152650"/>
            <a:ext cx="5105400" cy="312420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0">
            <a:noFill/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5" name="Rounded Rectangle 4"/>
          <p:cNvSpPr>
            <a:spLocks noGrp="1"/>
          </p:cNvSpPr>
          <p:nvPr/>
        </p:nvSpPr>
        <p:spPr>
          <a:xfrm>
            <a:off x="6115050" y="2152650"/>
            <a:ext cx="5391150" cy="3124200"/>
          </a:xfrm>
          <a:prstGeom prst="roundRect">
            <a:avLst>
              <a:gd name="adj" fmla="val 7317"/>
            </a:avLst>
          </a:prstGeom>
          <a:solidFill>
            <a:srgbClr val="4B5320"/>
          </a:solidFill>
          <a:ln w="0">
            <a:noFill/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6" name="Rectangles 5"/>
          <p:cNvSpPr>
            <a:spLocks noGrp="1"/>
          </p:cNvSpPr>
          <p:nvPr/>
        </p:nvSpPr>
        <p:spPr>
          <a:xfrm>
            <a:off x="990600" y="2419350"/>
            <a:ext cx="66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450" b="1" i="0">
                <a:solidFill>
                  <a:srgbClr val="E8B44B"/>
                </a:solidFill>
              </a:defRPr>
            </a:pPr>
            <a:r>
              <a:rPr sz="3450" b="1" i="0">
                <a:solidFill>
                  <a:srgbClr val="E8B44B"/>
                </a:solidFill>
              </a:rPr>
              <a:t>01</a:t>
            </a:r>
            <a:endParaRPr sz="3450" b="1" i="0">
              <a:solidFill>
                <a:srgbClr val="E8B44B"/>
              </a:solidFill>
            </a:endParaRPr>
          </a:p>
        </p:txBody>
      </p:sp>
      <p:sp>
        <p:nvSpPr>
          <p:cNvPr id="7" name="Rectangles 6"/>
          <p:cNvSpPr>
            <a:spLocks noGrp="1"/>
          </p:cNvSpPr>
          <p:nvPr/>
        </p:nvSpPr>
        <p:spPr>
          <a:xfrm>
            <a:off x="990600" y="3143250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 i="0">
                <a:solidFill>
                  <a:srgbClr val="101828"/>
                </a:solidFill>
              </a:defRPr>
            </a:pPr>
            <a:r>
              <a:rPr sz="2250" b="1" i="0">
                <a:solidFill>
                  <a:srgbClr val="101828"/>
                </a:solidFill>
              </a:rPr>
              <a:t>Students practice blindly</a:t>
            </a:r>
            <a:endParaRPr sz="2250" b="1" i="0">
              <a:solidFill>
                <a:srgbClr val="101828"/>
              </a:solidFill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990600" y="3705225"/>
            <a:ext cx="41719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475467"/>
                </a:solidFill>
              </a:defRPr>
            </a:pPr>
            <a:r>
              <a:rPr sz="1425" b="0" i="0">
                <a:solidFill>
                  <a:srgbClr val="475467"/>
                </a:solidFill>
              </a:rPr>
              <a:t>They answer questions without a clear view of which topics to revisit, where pacing breaks down, or why the same mistakes repeat.</a:t>
            </a:r>
            <a:endParaRPr sz="1425" b="0" i="0">
              <a:solidFill>
                <a:srgbClr val="475467"/>
              </a:solidFill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6438900" y="2419350"/>
            <a:ext cx="66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450" b="1" i="0">
                <a:solidFill>
                  <a:srgbClr val="E8B44B"/>
                </a:solidFill>
              </a:defRPr>
            </a:pPr>
            <a:r>
              <a:rPr sz="3450" b="1" i="0">
                <a:solidFill>
                  <a:srgbClr val="E8B44B"/>
                </a:solidFill>
              </a:rPr>
              <a:t>02</a:t>
            </a:r>
            <a:endParaRPr sz="3450" b="1" i="0">
              <a:solidFill>
                <a:srgbClr val="E8B44B"/>
              </a:solidFill>
            </a:endParaRPr>
          </a:p>
        </p:txBody>
      </p:sp>
      <p:sp>
        <p:nvSpPr>
          <p:cNvPr id="10" name="Rectangles 9"/>
          <p:cNvSpPr>
            <a:spLocks noGrp="1"/>
          </p:cNvSpPr>
          <p:nvPr/>
        </p:nvSpPr>
        <p:spPr>
          <a:xfrm>
            <a:off x="6438900" y="3143250"/>
            <a:ext cx="4286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Educators see too little</a:t>
            </a:r>
            <a:endParaRPr sz="2250" b="1" i="0">
              <a:solidFill>
                <a:srgbClr val="FFFFFF"/>
              </a:solidFill>
            </a:endParaRPr>
          </a:p>
        </p:txBody>
      </p:sp>
      <p:sp>
        <p:nvSpPr>
          <p:cNvPr id="11" name="Rectangles 10"/>
          <p:cNvSpPr>
            <a:spLocks noGrp="1"/>
          </p:cNvSpPr>
          <p:nvPr/>
        </p:nvSpPr>
        <p:spPr>
          <a:xfrm>
            <a:off x="6438900" y="3705225"/>
            <a:ext cx="43053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E7EAD9"/>
                </a:solidFill>
              </a:defRPr>
            </a:pPr>
            <a:r>
              <a:rPr sz="1425" b="0" i="0">
                <a:solidFill>
                  <a:srgbClr val="E7EAD9"/>
                </a:solidFill>
              </a:rPr>
              <a:t>Assignments create more grading, yet still may not reveal who is stuck, which concept needs reteaching, or how students used their time.</a:t>
            </a:r>
            <a:endParaRPr sz="1425" b="0" i="0">
              <a:solidFill>
                <a:srgbClr val="E7EAD9"/>
              </a:solidFill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2171700" y="5619750"/>
            <a:ext cx="7848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 i="0">
                <a:solidFill>
                  <a:srgbClr val="4B5320"/>
                </a:solidFill>
              </a:defRPr>
            </a:pPr>
            <a:r>
              <a:rPr sz="1800" b="1" i="0">
                <a:solidFill>
                  <a:srgbClr val="4B5320"/>
                </a:solidFill>
              </a:rPr>
              <a:t>The opportunity: turn every practice session into useful next steps.</a:t>
            </a:r>
            <a:endParaRPr sz="1800" b="1" i="0">
              <a:solidFill>
                <a:srgbClr val="4B5320"/>
              </a:solidFill>
            </a:endParaRPr>
          </a:p>
        </p:txBody>
      </p:sp>
      <p:sp>
        <p:nvSpPr>
          <p:cNvPr id="13" name="Rectangles 12"/>
          <p:cNvSpPr>
            <a:spLocks noGrp="1"/>
          </p:cNvSpPr>
          <p:nvPr/>
        </p:nvSpPr>
        <p:spPr>
          <a:xfrm>
            <a:off x="685800" y="64960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DRILL INSTRUCTOR  •  SCHOOL PARTNERSHIP</a:t>
            </a:r>
            <a:endParaRPr sz="825" b="1" i="0">
              <a:solidFill>
                <a:srgbClr val="667085"/>
              </a:solidFill>
            </a:endParaRPr>
          </a:p>
        </p:txBody>
      </p:sp>
      <p:sp>
        <p:nvSpPr>
          <p:cNvPr id="14" name="Rectangles 13"/>
          <p:cNvSpPr>
            <a:spLocks noGrp="1"/>
          </p:cNvSpPr>
          <p:nvPr/>
        </p:nvSpPr>
        <p:spPr>
          <a:xfrm>
            <a:off x="1114425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02</a:t>
            </a:r>
            <a:endParaRPr sz="825" b="1" i="0">
              <a:solidFill>
                <a:srgbClr val="66708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5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Rectangles 16"/>
          <p:cNvSpPr>
            <a:spLocks noGrp="1"/>
          </p:cNvSpPr>
          <p:nvPr/>
        </p:nvSpPr>
        <p:spPr>
          <a:xfrm>
            <a:off x="685800" y="4953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E8B44B"/>
                </a:solidFill>
              </a:defRPr>
            </a:pPr>
            <a:r>
              <a:rPr sz="1050" b="1" i="0">
                <a:solidFill>
                  <a:srgbClr val="E8B44B"/>
                </a:solidFill>
              </a:rPr>
              <a:t>THE PLATFORM</a:t>
            </a:r>
            <a:endParaRPr sz="1050" b="1" i="0">
              <a:solidFill>
                <a:srgbClr val="E8B44B"/>
              </a:solidFill>
            </a:endParaRPr>
          </a:p>
        </p:txBody>
      </p:sp>
      <p:sp>
        <p:nvSpPr>
          <p:cNvPr id="2" name="Rectangles 1"/>
          <p:cNvSpPr>
            <a:spLocks noGrp="1"/>
          </p:cNvSpPr>
          <p:nvPr/>
        </p:nvSpPr>
        <p:spPr>
          <a:xfrm>
            <a:off x="685800" y="7810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Preparation works best as a disciplined training loop.</a:t>
            </a:r>
            <a:endParaRPr sz="3150" b="1" i="0">
              <a:solidFill>
                <a:srgbClr val="FFFFFF"/>
              </a:solidFill>
            </a:endParaRPr>
          </a:p>
        </p:txBody>
      </p:sp>
      <p:sp>
        <p:nvSpPr>
          <p:cNvPr id="3" name="Rectangles 2"/>
          <p:cNvSpPr>
            <a:spLocks noGrp="1"/>
          </p:cNvSpPr>
          <p:nvPr/>
        </p:nvSpPr>
        <p:spPr>
          <a:xfrm>
            <a:off x="685800" y="1466850"/>
            <a:ext cx="952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DCE1C6"/>
                </a:solidFill>
              </a:defRPr>
            </a:pPr>
            <a:r>
              <a:rPr sz="1500" b="0" i="0">
                <a:solidFill>
                  <a:srgbClr val="DCE1C6"/>
                </a:solidFill>
              </a:rPr>
              <a:t>Exam preparation is serious work. Drill Instructor makes the repetition purposeful, visible, and easier to sustain.</a:t>
            </a:r>
            <a:endParaRPr sz="1500" b="0" i="0">
              <a:solidFill>
                <a:srgbClr val="DCE1C6"/>
              </a:solidFill>
            </a:endParaRPr>
          </a:p>
        </p:txBody>
      </p:sp>
      <p:sp>
        <p:nvSpPr>
          <p:cNvPr id="4" name="Rectangles 3"/>
          <p:cNvSpPr>
            <a:spLocks noGrp="1"/>
          </p:cNvSpPr>
          <p:nvPr/>
        </p:nvSpPr>
        <p:spPr>
          <a:xfrm>
            <a:off x="685800" y="2647950"/>
            <a:ext cx="285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PRACTICE</a:t>
            </a:r>
            <a:endParaRPr sz="3000" b="1" i="0">
              <a:solidFill>
                <a:srgbClr val="FFFFFF"/>
              </a:solidFill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685800" y="33337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 i="0">
                <a:solidFill>
                  <a:srgbClr val="DCE1C6"/>
                </a:solidFill>
              </a:defRPr>
            </a:pPr>
            <a:r>
              <a:rPr sz="1350" b="0" i="0">
                <a:solidFill>
                  <a:srgbClr val="DCE1C6"/>
                </a:solidFill>
              </a:rPr>
              <a:t>Focused, timed drills</a:t>
            </a:r>
            <a:endParaRPr sz="1350" b="0" i="0">
              <a:solidFill>
                <a:srgbClr val="DCE1C6"/>
              </a:solidFill>
            </a:endParaRPr>
          </a:p>
        </p:txBody>
      </p:sp>
      <p:sp>
        <p:nvSpPr>
          <p:cNvPr id="6" name="Rectangles 5"/>
          <p:cNvSpPr>
            <a:spLocks noGrp="1"/>
          </p:cNvSpPr>
          <p:nvPr/>
        </p:nvSpPr>
        <p:spPr>
          <a:xfrm>
            <a:off x="3714750" y="2781300"/>
            <a:ext cx="49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 i="0">
                <a:solidFill>
                  <a:srgbClr val="E8B44B"/>
                </a:solidFill>
              </a:defRPr>
            </a:pPr>
            <a:r>
              <a:rPr sz="2550" b="1" i="0">
                <a:solidFill>
                  <a:srgbClr val="E8B44B"/>
                </a:solidFill>
              </a:rPr>
              <a:t>→</a:t>
            </a:r>
            <a:endParaRPr sz="2550" b="1" i="0">
              <a:solidFill>
                <a:srgbClr val="E8B44B"/>
              </a:solidFill>
            </a:endParaRPr>
          </a:p>
        </p:txBody>
      </p:sp>
      <p:sp>
        <p:nvSpPr>
          <p:cNvPr id="7" name="Rectangles 6"/>
          <p:cNvSpPr>
            <a:spLocks noGrp="1"/>
          </p:cNvSpPr>
          <p:nvPr/>
        </p:nvSpPr>
        <p:spPr>
          <a:xfrm>
            <a:off x="4210050" y="2647950"/>
            <a:ext cx="285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000" b="1" i="0">
                <a:solidFill>
                  <a:srgbClr val="E8B44B"/>
                </a:solidFill>
              </a:defRPr>
            </a:pPr>
            <a:r>
              <a:rPr sz="3000" b="1" i="0">
                <a:solidFill>
                  <a:srgbClr val="E8B44B"/>
                </a:solidFill>
              </a:rPr>
              <a:t>REVIEW</a:t>
            </a:r>
            <a:endParaRPr sz="3000" b="1" i="0">
              <a:solidFill>
                <a:srgbClr val="E8B44B"/>
              </a:solidFill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4210050" y="33337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 i="0">
                <a:solidFill>
                  <a:srgbClr val="DCE1C6"/>
                </a:solidFill>
              </a:defRPr>
            </a:pPr>
            <a:r>
              <a:rPr sz="1350" b="0" i="0">
                <a:solidFill>
                  <a:srgbClr val="DCE1C6"/>
                </a:solidFill>
              </a:rPr>
              <a:t>Corrections and explanations</a:t>
            </a:r>
            <a:endParaRPr sz="1350" b="0" i="0">
              <a:solidFill>
                <a:srgbClr val="DCE1C6"/>
              </a:solidFill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7239000" y="2781300"/>
            <a:ext cx="49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 i="0">
                <a:solidFill>
                  <a:srgbClr val="E8B44B"/>
                </a:solidFill>
              </a:defRPr>
            </a:pPr>
            <a:r>
              <a:rPr sz="2550" b="1" i="0">
                <a:solidFill>
                  <a:srgbClr val="E8B44B"/>
                </a:solidFill>
              </a:rPr>
              <a:t>→</a:t>
            </a:r>
            <a:endParaRPr sz="2550" b="1" i="0">
              <a:solidFill>
                <a:srgbClr val="E8B44B"/>
              </a:solidFill>
            </a:endParaRPr>
          </a:p>
        </p:txBody>
      </p:sp>
      <p:sp>
        <p:nvSpPr>
          <p:cNvPr id="10" name="Rectangles 9"/>
          <p:cNvSpPr>
            <a:spLocks noGrp="1"/>
          </p:cNvSpPr>
          <p:nvPr/>
        </p:nvSpPr>
        <p:spPr>
          <a:xfrm>
            <a:off x="7734300" y="2647950"/>
            <a:ext cx="285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IMPROVE</a:t>
            </a:r>
            <a:endParaRPr sz="3000" b="1" i="0">
              <a:solidFill>
                <a:srgbClr val="FFFFFF"/>
              </a:solidFill>
            </a:endParaRPr>
          </a:p>
        </p:txBody>
      </p:sp>
      <p:sp>
        <p:nvSpPr>
          <p:cNvPr id="11" name="Rectangles 10"/>
          <p:cNvSpPr>
            <a:spLocks noGrp="1"/>
          </p:cNvSpPr>
          <p:nvPr/>
        </p:nvSpPr>
        <p:spPr>
          <a:xfrm>
            <a:off x="7734300" y="33337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 i="0">
                <a:solidFill>
                  <a:srgbClr val="DCE1C6"/>
                </a:solidFill>
              </a:defRPr>
            </a:pPr>
            <a:r>
              <a:rPr sz="1350" b="0" i="0">
                <a:solidFill>
                  <a:srgbClr val="DCE1C6"/>
                </a:solidFill>
              </a:rPr>
              <a:t>Analytics guide the next session</a:t>
            </a:r>
            <a:endParaRPr sz="1350" b="0" i="0">
              <a:solidFill>
                <a:srgbClr val="DCE1C6"/>
              </a:solidFill>
            </a:endParaRPr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685800" y="4400550"/>
            <a:ext cx="10820400" cy="1123950"/>
          </a:xfrm>
          <a:prstGeom prst="roundRect">
            <a:avLst>
              <a:gd name="adj" fmla="val 13559"/>
            </a:avLst>
          </a:prstGeom>
          <a:solidFill>
            <a:srgbClr val="5B6429"/>
          </a:solidFill>
          <a:ln w="0">
            <a:noFill/>
            <a:prstDash val="solid"/>
          </a:ln>
        </p:spPr>
      </p:sp>
      <p:sp>
        <p:nvSpPr>
          <p:cNvPr id="13" name="Rectangles 12"/>
          <p:cNvSpPr>
            <a:spLocks noGrp="1"/>
          </p:cNvSpPr>
          <p:nvPr/>
        </p:nvSpPr>
        <p:spPr>
          <a:xfrm>
            <a:off x="971550" y="4667250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Why “Drill Instructor”?</a:t>
            </a:r>
            <a:endParaRPr sz="1875" b="1" i="0">
              <a:solidFill>
                <a:srgbClr val="FFFFFF"/>
              </a:solidFill>
            </a:endParaRPr>
          </a:p>
        </p:txBody>
      </p:sp>
      <p:sp>
        <p:nvSpPr>
          <p:cNvPr id="14" name="Rectangles 13"/>
          <p:cNvSpPr>
            <a:spLocks noGrp="1"/>
          </p:cNvSpPr>
          <p:nvPr/>
        </p:nvSpPr>
        <p:spPr>
          <a:xfrm>
            <a:off x="4038600" y="4610100"/>
            <a:ext cx="6915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F1F3E8"/>
                </a:solidFill>
              </a:defRPr>
            </a:pPr>
            <a:r>
              <a:rPr sz="1500" b="0" i="0">
                <a:solidFill>
                  <a:srgbClr val="F1F3E8"/>
                </a:solidFill>
              </a:rPr>
              <a:t>The military is an enduring symbol of discipline. Students may not love every repetition—but structured repetition builds readiness.</a:t>
            </a:r>
            <a:endParaRPr sz="1500" b="0" i="0">
              <a:solidFill>
                <a:srgbClr val="F1F3E8"/>
              </a:solidFill>
            </a:endParaRPr>
          </a:p>
        </p:txBody>
      </p:sp>
      <p:sp>
        <p:nvSpPr>
          <p:cNvPr id="15" name="Rectangles 14"/>
          <p:cNvSpPr>
            <a:spLocks noGrp="1"/>
          </p:cNvSpPr>
          <p:nvPr/>
        </p:nvSpPr>
        <p:spPr>
          <a:xfrm>
            <a:off x="685800" y="64960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D7DCC0"/>
                </a:solidFill>
              </a:defRPr>
            </a:pPr>
            <a:r>
              <a:rPr sz="825" b="1" i="0">
                <a:solidFill>
                  <a:srgbClr val="D7DCC0"/>
                </a:solidFill>
              </a:rPr>
              <a:t>DRILL INSTRUCTOR  •  SCHOOL PARTNERSHIP</a:t>
            </a:r>
            <a:endParaRPr sz="825" b="1" i="0">
              <a:solidFill>
                <a:srgbClr val="D7DCC0"/>
              </a:solidFill>
            </a:endParaRPr>
          </a:p>
        </p:txBody>
      </p:sp>
      <p:sp>
        <p:nvSpPr>
          <p:cNvPr id="16" name="Rectangles 15"/>
          <p:cNvSpPr>
            <a:spLocks noGrp="1"/>
          </p:cNvSpPr>
          <p:nvPr/>
        </p:nvSpPr>
        <p:spPr>
          <a:xfrm>
            <a:off x="1114425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D7DCC0"/>
                </a:solidFill>
              </a:defRPr>
            </a:pPr>
            <a:r>
              <a:rPr sz="825" b="1" i="0">
                <a:solidFill>
                  <a:srgbClr val="D7DCC0"/>
                </a:solidFill>
              </a:rPr>
              <a:t>03</a:t>
            </a:r>
            <a:endParaRPr sz="825" b="1" i="0">
              <a:solidFill>
                <a:srgbClr val="D7DCC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Rectangles 12"/>
          <p:cNvSpPr>
            <a:spLocks noGrp="1"/>
          </p:cNvSpPr>
          <p:nvPr/>
        </p:nvSpPr>
        <p:spPr>
          <a:xfrm>
            <a:off x="685800" y="4191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4B5320"/>
                </a:solidFill>
              </a:defRPr>
            </a:pPr>
            <a:r>
              <a:rPr sz="1050" b="1" i="0">
                <a:solidFill>
                  <a:srgbClr val="4B5320"/>
                </a:solidFill>
              </a:rPr>
              <a:t>STUDENT EXPERIENCE</a:t>
            </a:r>
            <a:endParaRPr sz="1050" b="1" i="0">
              <a:solidFill>
                <a:srgbClr val="4B5320"/>
              </a:solidFill>
            </a:endParaRPr>
          </a:p>
        </p:txBody>
      </p:sp>
      <p:sp>
        <p:nvSpPr>
          <p:cNvPr id="2" name="Rectangles 1"/>
          <p:cNvSpPr>
            <a:spLocks noGrp="1"/>
          </p:cNvSpPr>
          <p:nvPr/>
        </p:nvSpPr>
        <p:spPr>
          <a:xfrm>
            <a:off x="685800" y="70485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01828"/>
                </a:solidFill>
              </a:defRPr>
            </a:pPr>
            <a:r>
              <a:rPr sz="3150" b="1" i="0">
                <a:solidFill>
                  <a:srgbClr val="101828"/>
                </a:solidFill>
              </a:rPr>
              <a:t>Students can build the right practice—and learn from every miss.</a:t>
            </a:r>
            <a:endParaRPr sz="3150" b="1" i="0">
              <a:solidFill>
                <a:srgbClr val="101828"/>
              </a:solidFill>
            </a:endParaRPr>
          </a:p>
        </p:txBody>
      </p:sp>
      <p:sp>
        <p:nvSpPr>
          <p:cNvPr id="11" name="Rectangles 10"/>
          <p:cNvSpPr>
            <a:spLocks noGrp="1"/>
          </p:cNvSpPr>
          <p:nvPr/>
        </p:nvSpPr>
        <p:spPr>
          <a:xfrm>
            <a:off x="685800" y="64960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DRILL INSTRUCTOR  •  SCHOOL PARTNERSHIP</a:t>
            </a:r>
            <a:endParaRPr sz="825" b="1" i="0">
              <a:solidFill>
                <a:srgbClr val="667085"/>
              </a:solidFill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1114425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04</a:t>
            </a:r>
            <a:endParaRPr sz="825" b="1" i="0">
              <a:solidFill>
                <a:srgbClr val="667085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5415" y="1772920"/>
            <a:ext cx="8706485" cy="45250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Rectangles 12"/>
          <p:cNvSpPr>
            <a:spLocks noGrp="1"/>
          </p:cNvSpPr>
          <p:nvPr/>
        </p:nvSpPr>
        <p:spPr>
          <a:xfrm>
            <a:off x="685800" y="4000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4B5320"/>
                </a:solidFill>
              </a:defRPr>
            </a:pPr>
            <a:r>
              <a:rPr sz="1050" b="1" i="0">
                <a:solidFill>
                  <a:srgbClr val="4B5320"/>
                </a:solidFill>
              </a:rPr>
              <a:t>EDUCATOR EXPERIENCE</a:t>
            </a:r>
            <a:endParaRPr sz="1050" b="1" i="0">
              <a:solidFill>
                <a:srgbClr val="4B5320"/>
              </a:solidFill>
            </a:endParaRPr>
          </a:p>
        </p:txBody>
      </p:sp>
      <p:sp>
        <p:nvSpPr>
          <p:cNvPr id="2" name="Rectangles 1"/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01828"/>
                </a:solidFill>
              </a:defRPr>
            </a:pPr>
            <a:r>
              <a:rPr sz="3150" b="1" i="0">
                <a:solidFill>
                  <a:srgbClr val="101828"/>
                </a:solidFill>
              </a:rPr>
              <a:t>Assign focused practice without inheriting continuous grading.</a:t>
            </a:r>
            <a:endParaRPr sz="3150" b="1" i="0">
              <a:solidFill>
                <a:srgbClr val="101828"/>
              </a:solidFill>
            </a:endParaRPr>
          </a:p>
        </p:txBody>
      </p:sp>
      <p:sp>
        <p:nvSpPr>
          <p:cNvPr id="3" name="Rounded Rectangle 2"/>
          <p:cNvSpPr>
            <a:spLocks noGrp="1"/>
          </p:cNvSpPr>
          <p:nvPr/>
        </p:nvSpPr>
        <p:spPr>
          <a:xfrm>
            <a:off x="571500" y="1466850"/>
            <a:ext cx="6934200" cy="4552950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0">
            <a:noFill/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2156802"/>
            <a:ext cx="6629400" cy="3173046"/>
          </a:xfrm>
          <a:prstGeom prst="roundRect">
            <a:avLst>
              <a:gd name="adj" fmla="val 2691"/>
            </a:avLst>
          </a:prstGeom>
        </p:spPr>
      </p:pic>
      <p:sp>
        <p:nvSpPr>
          <p:cNvPr id="5" name="Rectangles 4"/>
          <p:cNvSpPr>
            <a:spLocks noGrp="1"/>
          </p:cNvSpPr>
          <p:nvPr/>
        </p:nvSpPr>
        <p:spPr>
          <a:xfrm>
            <a:off x="7848600" y="165735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 i="0">
                <a:solidFill>
                  <a:srgbClr val="4B5320"/>
                </a:solidFill>
              </a:defRPr>
            </a:pPr>
            <a:r>
              <a:rPr sz="1950" b="1" i="0">
                <a:solidFill>
                  <a:srgbClr val="4B5320"/>
                </a:solidFill>
              </a:rPr>
              <a:t>Browse the question bank</a:t>
            </a:r>
            <a:endParaRPr sz="1950" b="1" i="0">
              <a:solidFill>
                <a:srgbClr val="4B5320"/>
              </a:solidFill>
            </a:endParaRPr>
          </a:p>
        </p:txBody>
      </p:sp>
      <p:sp>
        <p:nvSpPr>
          <p:cNvPr id="6" name="Rectangles 5"/>
          <p:cNvSpPr>
            <a:spLocks noGrp="1"/>
          </p:cNvSpPr>
          <p:nvPr/>
        </p:nvSpPr>
        <p:spPr>
          <a:xfrm>
            <a:off x="7848600" y="2152650"/>
            <a:ext cx="3333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475467"/>
                </a:solidFill>
              </a:defRPr>
            </a:pPr>
            <a:r>
              <a:rPr sz="1350" b="0" i="0">
                <a:solidFill>
                  <a:srgbClr val="475467"/>
                </a:solidFill>
              </a:rPr>
              <a:t>Filter by subject, module, and practice test. Inspect questions and explanations before assigning.</a:t>
            </a:r>
            <a:endParaRPr sz="1350" b="0" i="0">
              <a:solidFill>
                <a:srgbClr val="475467"/>
              </a:solidFill>
            </a:endParaRPr>
          </a:p>
        </p:txBody>
      </p:sp>
      <p:sp>
        <p:nvSpPr>
          <p:cNvPr id="7" name="Rectangles 6"/>
          <p:cNvSpPr>
            <a:spLocks noGrp="1"/>
          </p:cNvSpPr>
          <p:nvPr/>
        </p:nvSpPr>
        <p:spPr>
          <a:xfrm>
            <a:off x="7848600" y="337185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 i="0">
                <a:solidFill>
                  <a:srgbClr val="4B5320"/>
                </a:solidFill>
              </a:defRPr>
            </a:pPr>
            <a:r>
              <a:rPr sz="1950" b="1" i="0">
                <a:solidFill>
                  <a:srgbClr val="4B5320"/>
                </a:solidFill>
              </a:rPr>
              <a:t>Set the assignment rules</a:t>
            </a:r>
            <a:endParaRPr sz="1950" b="1" i="0">
              <a:solidFill>
                <a:srgbClr val="4B5320"/>
              </a:solidFill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7848600" y="3867150"/>
            <a:ext cx="3333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475467"/>
                </a:solidFill>
              </a:defRPr>
            </a:pPr>
            <a:r>
              <a:rPr sz="1350" b="0" i="0">
                <a:solidFill>
                  <a:srgbClr val="475467"/>
                </a:solidFill>
              </a:rPr>
              <a:t>Choose recipients, due date, score release, correction release, and question-order shuffling.</a:t>
            </a:r>
            <a:endParaRPr sz="1350" b="0" i="0">
              <a:solidFill>
                <a:srgbClr val="475467"/>
              </a:solidFill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7848600" y="508635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 i="0">
                <a:solidFill>
                  <a:srgbClr val="4B5320"/>
                </a:solidFill>
              </a:defRPr>
            </a:pPr>
            <a:r>
              <a:rPr sz="1950" b="1" i="0">
                <a:solidFill>
                  <a:srgbClr val="4B5320"/>
                </a:solidFill>
              </a:rPr>
              <a:t>Review—without re-grading</a:t>
            </a:r>
            <a:endParaRPr sz="1950" b="1" i="0">
              <a:solidFill>
                <a:srgbClr val="4B5320"/>
              </a:solidFill>
            </a:endParaRPr>
          </a:p>
        </p:txBody>
      </p:sp>
      <p:sp>
        <p:nvSpPr>
          <p:cNvPr id="10" name="Rectangles 9"/>
          <p:cNvSpPr>
            <a:spLocks noGrp="1"/>
          </p:cNvSpPr>
          <p:nvPr/>
        </p:nvSpPr>
        <p:spPr>
          <a:xfrm>
            <a:off x="7848600" y="5505450"/>
            <a:ext cx="3333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 i="0">
                <a:solidFill>
                  <a:srgbClr val="475467"/>
                </a:solidFill>
              </a:defRPr>
            </a:pPr>
            <a:r>
              <a:rPr sz="1350" b="0" i="0">
                <a:solidFill>
                  <a:srgbClr val="475467"/>
                </a:solidFill>
              </a:rPr>
              <a:t>Submission summaries and corrections are generated from the same server-owned results.</a:t>
            </a:r>
            <a:endParaRPr sz="1350" b="0" i="0">
              <a:solidFill>
                <a:srgbClr val="475467"/>
              </a:solidFill>
            </a:endParaRPr>
          </a:p>
        </p:txBody>
      </p:sp>
      <p:sp>
        <p:nvSpPr>
          <p:cNvPr id="11" name="Rectangles 10"/>
          <p:cNvSpPr>
            <a:spLocks noGrp="1"/>
          </p:cNvSpPr>
          <p:nvPr/>
        </p:nvSpPr>
        <p:spPr>
          <a:xfrm>
            <a:off x="685800" y="64960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DRILL INSTRUCTOR  •  SCHOOL PARTNERSHIP</a:t>
            </a:r>
            <a:endParaRPr sz="825" b="1" i="0">
              <a:solidFill>
                <a:srgbClr val="667085"/>
              </a:solidFill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1114425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06</a:t>
            </a:r>
            <a:endParaRPr sz="825" b="1" i="0">
              <a:solidFill>
                <a:srgbClr val="66708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ectangles 11"/>
          <p:cNvSpPr>
            <a:spLocks noGrp="1"/>
          </p:cNvSpPr>
          <p:nvPr/>
        </p:nvSpPr>
        <p:spPr>
          <a:xfrm>
            <a:off x="685800" y="4000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4B5320"/>
                </a:solidFill>
              </a:defRPr>
            </a:pPr>
            <a:r>
              <a:rPr sz="1050" b="1" i="0">
                <a:solidFill>
                  <a:srgbClr val="4B5320"/>
                </a:solidFill>
              </a:rPr>
              <a:t>ACTIONABLE VISIBILITY</a:t>
            </a:r>
            <a:endParaRPr sz="1050" b="1" i="0">
              <a:solidFill>
                <a:srgbClr val="4B5320"/>
              </a:solidFill>
            </a:endParaRPr>
          </a:p>
        </p:txBody>
      </p:sp>
      <p:sp>
        <p:nvSpPr>
          <p:cNvPr id="2" name="Rectangles 1"/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01828"/>
                </a:solidFill>
              </a:defRPr>
            </a:pPr>
            <a:r>
              <a:rPr sz="3150" b="1" i="0">
                <a:solidFill>
                  <a:srgbClr val="101828"/>
                </a:solidFill>
              </a:rPr>
              <a:t>Zoom from group trends to one answer choice.</a:t>
            </a:r>
            <a:endParaRPr sz="3150" b="1" i="0">
              <a:solidFill>
                <a:srgbClr val="101828"/>
              </a:solidFill>
            </a:endParaRPr>
          </a:p>
        </p:txBody>
      </p:sp>
      <p:sp>
        <p:nvSpPr>
          <p:cNvPr id="3" name="Rounded Rectangle 2"/>
          <p:cNvSpPr>
            <a:spLocks noGrp="1"/>
          </p:cNvSpPr>
          <p:nvPr/>
        </p:nvSpPr>
        <p:spPr>
          <a:xfrm>
            <a:off x="514350" y="1428750"/>
            <a:ext cx="7239000" cy="4762500"/>
          </a:xfrm>
          <a:prstGeom prst="roundRect">
            <a:avLst>
              <a:gd name="adj" fmla="val 3200"/>
            </a:avLst>
          </a:prstGeom>
          <a:solidFill>
            <a:srgbClr val="F6F8FB"/>
          </a:solidFill>
          <a:ln w="0">
            <a:noFill/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rcRect t="17022" b="17022"/>
          <a:stretch>
            <a:fillRect/>
          </a:stretch>
        </p:blipFill>
        <p:spPr>
          <a:xfrm>
            <a:off x="647700" y="1562100"/>
            <a:ext cx="6972300" cy="4495800"/>
          </a:xfrm>
          <a:prstGeom prst="roundRect">
            <a:avLst>
              <a:gd name="adj" fmla="val 2542"/>
            </a:avLst>
          </a:prstGeom>
        </p:spPr>
      </p:pic>
      <p:sp>
        <p:nvSpPr>
          <p:cNvPr id="5" name="Rounded Rectangle 4"/>
          <p:cNvSpPr>
            <a:spLocks noGrp="1"/>
          </p:cNvSpPr>
          <p:nvPr/>
        </p:nvSpPr>
        <p:spPr>
          <a:xfrm>
            <a:off x="7467600" y="2362200"/>
            <a:ext cx="4229100" cy="32004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E8B44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rcRect l="17792" r="17792"/>
          <a:stretch>
            <a:fillRect/>
          </a:stretch>
        </p:blipFill>
        <p:spPr>
          <a:xfrm>
            <a:off x="7581900" y="2476500"/>
            <a:ext cx="4000500" cy="2971800"/>
          </a:xfrm>
          <a:prstGeom prst="roundRect">
            <a:avLst>
              <a:gd name="adj" fmla="val 3846"/>
            </a:avLst>
          </a:prstGeom>
        </p:spPr>
      </p:pic>
      <p:sp>
        <p:nvSpPr>
          <p:cNvPr id="7" name="Rectangles 6"/>
          <p:cNvSpPr>
            <a:spLocks noGrp="1"/>
          </p:cNvSpPr>
          <p:nvPr/>
        </p:nvSpPr>
        <p:spPr>
          <a:xfrm>
            <a:off x="8020050" y="15621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4B5320"/>
                </a:solidFill>
              </a:defRPr>
            </a:pPr>
            <a:r>
              <a:rPr sz="1050" b="1" i="0">
                <a:solidFill>
                  <a:srgbClr val="4B5320"/>
                </a:solidFill>
              </a:rPr>
              <a:t>WHOLE GROUP</a:t>
            </a:r>
            <a:endParaRPr sz="1050" b="1" i="0">
              <a:solidFill>
                <a:srgbClr val="4B5320"/>
              </a:solidFill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8020050" y="1847850"/>
            <a:ext cx="3333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475467"/>
                </a:solidFill>
              </a:defRPr>
            </a:pPr>
            <a:r>
              <a:rPr sz="1350" b="1" i="0">
                <a:solidFill>
                  <a:srgbClr val="475467"/>
                </a:solidFill>
              </a:rPr>
              <a:t>→ subject → module → question → answer choice</a:t>
            </a:r>
            <a:endParaRPr sz="1350" b="1" i="0">
              <a:solidFill>
                <a:srgbClr val="475467"/>
              </a:solidFill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7620000" y="5772150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 i="0">
                <a:solidFill>
                  <a:srgbClr val="4B5320"/>
                </a:solidFill>
              </a:defRPr>
            </a:pPr>
            <a:r>
              <a:rPr sz="1425" b="1" i="0">
                <a:solidFill>
                  <a:srgbClr val="4B5320"/>
                </a:solidFill>
              </a:rPr>
              <a:t>Know who needs support—and the concept that needs reteaching.</a:t>
            </a:r>
            <a:endParaRPr sz="1425" b="1" i="0">
              <a:solidFill>
                <a:srgbClr val="4B5320"/>
              </a:solidFill>
            </a:endParaRPr>
          </a:p>
        </p:txBody>
      </p:sp>
      <p:sp>
        <p:nvSpPr>
          <p:cNvPr id="10" name="Rectangles 9"/>
          <p:cNvSpPr>
            <a:spLocks noGrp="1"/>
          </p:cNvSpPr>
          <p:nvPr/>
        </p:nvSpPr>
        <p:spPr>
          <a:xfrm>
            <a:off x="685800" y="64960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DRILL INSTRUCTOR  •  SCHOOL PARTNERSHIP</a:t>
            </a:r>
            <a:endParaRPr sz="825" b="1" i="0">
              <a:solidFill>
                <a:srgbClr val="667085"/>
              </a:solidFill>
            </a:endParaRPr>
          </a:p>
        </p:txBody>
      </p:sp>
      <p:sp>
        <p:nvSpPr>
          <p:cNvPr id="11" name="Rectangles 10"/>
          <p:cNvSpPr>
            <a:spLocks noGrp="1"/>
          </p:cNvSpPr>
          <p:nvPr/>
        </p:nvSpPr>
        <p:spPr>
          <a:xfrm>
            <a:off x="1114425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667085"/>
                </a:solidFill>
              </a:defRPr>
            </a:pPr>
            <a:r>
              <a:rPr sz="825" b="1" i="0">
                <a:solidFill>
                  <a:srgbClr val="667085"/>
                </a:solidFill>
              </a:rPr>
              <a:t>07</a:t>
            </a:r>
            <a:endParaRPr sz="825" b="1" i="0">
              <a:solidFill>
                <a:srgbClr val="667085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5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s 1"/>
          <p:cNvSpPr>
            <a:spLocks noGrp="1"/>
          </p:cNvSpPr>
          <p:nvPr/>
        </p:nvSpPr>
        <p:spPr>
          <a:xfrm>
            <a:off x="685800" y="685800"/>
            <a:ext cx="10820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Privacy is a foundation—not an afterthought.</a:t>
            </a:r>
            <a:endParaRPr sz="3150" b="1" i="0">
              <a:solidFill>
                <a:srgbClr val="FFFFFF"/>
              </a:solidFill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1"/>
          <a:srcRect l="277" r="277"/>
          <a:stretch>
            <a:fillRect/>
          </a:stretch>
        </p:blipFill>
        <p:spPr>
          <a:xfrm>
            <a:off x="5829300" y="1390650"/>
            <a:ext cx="5676900" cy="1314450"/>
          </a:xfrm>
          <a:prstGeom prst="roundRect">
            <a:avLst>
              <a:gd name="adj" fmla="val 8696"/>
            </a:avLst>
          </a:prstGeom>
        </p:spPr>
      </p:pic>
      <p:sp>
        <p:nvSpPr>
          <p:cNvPr id="4" name="Rectangles 3"/>
          <p:cNvSpPr>
            <a:spLocks noGrp="1"/>
          </p:cNvSpPr>
          <p:nvPr/>
        </p:nvSpPr>
        <p:spPr>
          <a:xfrm>
            <a:off x="685800" y="17716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E8B44B"/>
                </a:solidFill>
              </a:defRPr>
            </a:pPr>
            <a:r>
              <a:rPr sz="1200" b="1" i="0">
                <a:solidFill>
                  <a:srgbClr val="E8B44B"/>
                </a:solidFill>
              </a:rPr>
              <a:t>01</a:t>
            </a:r>
            <a:endParaRPr sz="1200" b="1" i="0">
              <a:solidFill>
                <a:srgbClr val="E8B44B"/>
              </a:solidFill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1162050" y="17907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Private by choice</a:t>
            </a:r>
            <a:endParaRPr sz="1800" b="1" i="0">
              <a:solidFill>
                <a:srgbClr val="FFFFFF"/>
              </a:solidFill>
            </a:endParaRPr>
          </a:p>
        </p:txBody>
      </p:sp>
      <p:sp>
        <p:nvSpPr>
          <p:cNvPr id="6" name="Rectangles 5"/>
          <p:cNvSpPr>
            <a:spLocks noGrp="1"/>
          </p:cNvSpPr>
          <p:nvPr/>
        </p:nvSpPr>
        <p:spPr>
          <a:xfrm>
            <a:off x="1162050" y="2152650"/>
            <a:ext cx="4095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E8EBD8"/>
                </a:solidFill>
              </a:defRPr>
            </a:pPr>
            <a:r>
              <a:rPr sz="1275" b="0" i="0">
                <a:solidFill>
                  <a:srgbClr val="E8EBD8"/>
                </a:solidFill>
              </a:rPr>
              <a:t>Students can keep their profile out of public leaderboards.</a:t>
            </a:r>
            <a:endParaRPr sz="1275" b="0" i="0">
              <a:solidFill>
                <a:srgbClr val="E8EBD8"/>
              </a:solidFill>
            </a:endParaRPr>
          </a:p>
        </p:txBody>
      </p:sp>
      <p:sp>
        <p:nvSpPr>
          <p:cNvPr id="7" name="Rectangles 6"/>
          <p:cNvSpPr>
            <a:spLocks noGrp="1"/>
          </p:cNvSpPr>
          <p:nvPr/>
        </p:nvSpPr>
        <p:spPr>
          <a:xfrm>
            <a:off x="685800" y="30099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E8B44B"/>
                </a:solidFill>
              </a:defRPr>
            </a:pPr>
            <a:r>
              <a:rPr sz="1200" b="1" i="0">
                <a:solidFill>
                  <a:srgbClr val="E8B44B"/>
                </a:solidFill>
              </a:rPr>
              <a:t>02</a:t>
            </a:r>
            <a:endParaRPr sz="1200" b="1" i="0">
              <a:solidFill>
                <a:srgbClr val="E8B44B"/>
              </a:solidFill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1162050" y="30289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Scoped educator access</a:t>
            </a:r>
            <a:endParaRPr sz="1800" b="1" i="0">
              <a:solidFill>
                <a:srgbClr val="FFFFFF"/>
              </a:solidFill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1162050" y="3390900"/>
            <a:ext cx="4095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E8EBD8"/>
                </a:solidFill>
              </a:defRPr>
            </a:pPr>
            <a:r>
              <a:rPr sz="1275" b="0" i="0">
                <a:solidFill>
                  <a:srgbClr val="E8EBD8"/>
                </a:solidFill>
              </a:rPr>
              <a:t>Limit access by exam, subject, student, or group.</a:t>
            </a:r>
            <a:endParaRPr sz="1275" b="0" i="0">
              <a:solidFill>
                <a:srgbClr val="E8EBD8"/>
              </a:solidFill>
            </a:endParaRPr>
          </a:p>
        </p:txBody>
      </p:sp>
      <p:sp>
        <p:nvSpPr>
          <p:cNvPr id="10" name="Rectangles 9"/>
          <p:cNvSpPr>
            <a:spLocks noGrp="1"/>
          </p:cNvSpPr>
          <p:nvPr/>
        </p:nvSpPr>
        <p:spPr>
          <a:xfrm>
            <a:off x="685800" y="42481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 i="0">
                <a:solidFill>
                  <a:srgbClr val="E8B44B"/>
                </a:solidFill>
              </a:defRPr>
            </a:pPr>
            <a:r>
              <a:rPr sz="1200" b="1" i="0">
                <a:solidFill>
                  <a:srgbClr val="E8B44B"/>
                </a:solidFill>
              </a:rPr>
              <a:t>03</a:t>
            </a:r>
            <a:endParaRPr sz="1200" b="1" i="0">
              <a:solidFill>
                <a:srgbClr val="E8B44B"/>
              </a:solidFill>
            </a:endParaRPr>
          </a:p>
        </p:txBody>
      </p:sp>
      <p:sp>
        <p:nvSpPr>
          <p:cNvPr id="11" name="Rectangles 10"/>
          <p:cNvSpPr>
            <a:spLocks noGrp="1"/>
          </p:cNvSpPr>
          <p:nvPr/>
        </p:nvSpPr>
        <p:spPr>
          <a:xfrm>
            <a:off x="1162050" y="42672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Approval before access</a:t>
            </a:r>
            <a:endParaRPr sz="1800" b="1" i="0">
              <a:solidFill>
                <a:srgbClr val="FFFFFF"/>
              </a:solidFill>
            </a:endParaRPr>
          </a:p>
        </p:txBody>
      </p:sp>
      <p:sp>
        <p:nvSpPr>
          <p:cNvPr id="12" name="Rectangles 11"/>
          <p:cNvSpPr>
            <a:spLocks noGrp="1"/>
          </p:cNvSpPr>
          <p:nvPr/>
        </p:nvSpPr>
        <p:spPr>
          <a:xfrm>
            <a:off x="1162050" y="4629150"/>
            <a:ext cx="4095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 i="0">
                <a:solidFill>
                  <a:srgbClr val="E8EBD8"/>
                </a:solidFill>
              </a:defRPr>
            </a:pPr>
            <a:r>
              <a:rPr sz="1275" b="0" i="0">
                <a:solidFill>
                  <a:srgbClr val="E8EBD8"/>
                </a:solidFill>
              </a:rPr>
              <a:t>Educators require school authorization; approval can be withdrawn.</a:t>
            </a:r>
            <a:endParaRPr sz="1275" b="0" i="0">
              <a:solidFill>
                <a:srgbClr val="E8EBD8"/>
              </a:solidFill>
            </a:endParaRPr>
          </a:p>
        </p:txBody>
      </p:sp>
      <p:sp>
        <p:nvSpPr>
          <p:cNvPr id="13" name="Rectangles 12"/>
          <p:cNvSpPr>
            <a:spLocks noGrp="1"/>
          </p:cNvSpPr>
          <p:nvPr/>
        </p:nvSpPr>
        <p:spPr>
          <a:xfrm>
            <a:off x="6305550" y="3219450"/>
            <a:ext cx="361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E8B44B"/>
                </a:solidFill>
              </a:defRPr>
            </a:pPr>
            <a:r>
              <a:rPr sz="2100" b="1" i="0">
                <a:solidFill>
                  <a:srgbClr val="E8B44B"/>
                </a:solidFill>
              </a:rPr>
              <a:t>School controls</a:t>
            </a:r>
            <a:endParaRPr sz="2100" b="1" i="0">
              <a:solidFill>
                <a:srgbClr val="E8B44B"/>
              </a:solidFill>
            </a:endParaRPr>
          </a:p>
        </p:txBody>
      </p:sp>
      <p:sp>
        <p:nvSpPr>
          <p:cNvPr id="14" name="Rectangles 13"/>
          <p:cNvSpPr>
            <a:spLocks noGrp="1"/>
          </p:cNvSpPr>
          <p:nvPr/>
        </p:nvSpPr>
        <p:spPr>
          <a:xfrm>
            <a:off x="6305550" y="3714750"/>
            <a:ext cx="447675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 i="0">
                <a:solidFill>
                  <a:srgbClr val="F1F3E8"/>
                </a:solidFill>
              </a:defRPr>
            </a:pPr>
            <a:r>
              <a:rPr sz="1425" b="0" i="0">
                <a:solidFill>
                  <a:srgbClr val="F1F3E8"/>
                </a:solidFill>
              </a:rPr>
              <a:t>• School-wide educator codes</a:t>
            </a:r>
            <a:endParaRPr sz="1425" b="0" i="0">
              <a:solidFill>
                <a:srgbClr val="F1F3E8"/>
              </a:solidFill>
            </a:endParaRPr>
          </a:p>
          <a:p>
            <a:pPr algn="l">
              <a:defRPr sz="1425" b="0" i="0">
                <a:solidFill>
                  <a:srgbClr val="F1F3E8"/>
                </a:solidFill>
              </a:defRPr>
            </a:pPr>
            <a:r>
              <a:rPr sz="1425" b="0" i="0">
                <a:solidFill>
                  <a:srgbClr val="F1F3E8"/>
                </a:solidFill>
              </a:rPr>
              <a:t>• Admin approval and audit history</a:t>
            </a:r>
            <a:endParaRPr sz="1425" b="0" i="0">
              <a:solidFill>
                <a:srgbClr val="F1F3E8"/>
              </a:solidFill>
            </a:endParaRPr>
          </a:p>
          <a:p>
            <a:pPr algn="l">
              <a:defRPr sz="1425" b="0" i="0">
                <a:solidFill>
                  <a:srgbClr val="F1F3E8"/>
                </a:solidFill>
              </a:defRPr>
            </a:pPr>
            <a:r>
              <a:rPr sz="1425" b="0" i="0">
                <a:solidFill>
                  <a:srgbClr val="F1F3E8"/>
                </a:solidFill>
              </a:rPr>
              <a:t>• Flexible permission boundaries</a:t>
            </a:r>
            <a:endParaRPr sz="1425" b="0" i="0">
              <a:solidFill>
                <a:srgbClr val="F1F3E8"/>
              </a:solidFill>
            </a:endParaRPr>
          </a:p>
          <a:p>
            <a:pPr algn="l">
              <a:defRPr sz="1425" b="0" i="0">
                <a:solidFill>
                  <a:srgbClr val="F1F3E8"/>
                </a:solidFill>
              </a:defRPr>
            </a:pPr>
            <a:r>
              <a:rPr sz="1425" b="0" i="0">
                <a:solidFill>
                  <a:srgbClr val="F1F3E8"/>
                </a:solidFill>
              </a:rPr>
              <a:t>• Aggregate solo-practice visibility</a:t>
            </a:r>
            <a:endParaRPr sz="1425" b="0" i="0">
              <a:solidFill>
                <a:srgbClr val="F1F3E8"/>
              </a:solidFill>
            </a:endParaRPr>
          </a:p>
          <a:p>
            <a:pPr algn="l">
              <a:defRPr sz="1425" b="0" i="0">
                <a:solidFill>
                  <a:srgbClr val="F1F3E8"/>
                </a:solidFill>
              </a:defRPr>
            </a:pPr>
            <a:r>
              <a:rPr sz="1425" b="0" i="0">
                <a:solidFill>
                  <a:srgbClr val="F1F3E8"/>
                </a:solidFill>
              </a:rPr>
              <a:t>• No sale of analytics data</a:t>
            </a:r>
            <a:endParaRPr sz="1425" b="0" i="0">
              <a:solidFill>
                <a:srgbClr val="F1F3E8"/>
              </a:solidFill>
            </a:endParaRPr>
          </a:p>
        </p:txBody>
      </p:sp>
      <p:sp>
        <p:nvSpPr>
          <p:cNvPr id="15" name="Rectangles 14"/>
          <p:cNvSpPr>
            <a:spLocks noGrp="1"/>
          </p:cNvSpPr>
          <p:nvPr/>
        </p:nvSpPr>
        <p:spPr>
          <a:xfrm>
            <a:off x="5829300" y="5676900"/>
            <a:ext cx="5676900" cy="38100"/>
          </a:xfrm>
          <a:prstGeom prst="rect">
            <a:avLst/>
          </a:prstGeom>
          <a:solidFill>
            <a:srgbClr val="E8B44B"/>
          </a:solidFill>
          <a:ln w="0">
            <a:noFill/>
            <a:prstDash val="solid"/>
          </a:ln>
        </p:spPr>
      </p:sp>
      <p:sp>
        <p:nvSpPr>
          <p:cNvPr id="16" name="Rectangles 15"/>
          <p:cNvSpPr>
            <a:spLocks noGrp="1"/>
          </p:cNvSpPr>
          <p:nvPr/>
        </p:nvSpPr>
        <p:spPr>
          <a:xfrm>
            <a:off x="5829300" y="5848350"/>
            <a:ext cx="5676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 i="0">
                <a:solidFill>
                  <a:srgbClr val="DCE1C6"/>
                </a:solidFill>
              </a:defRPr>
            </a:pPr>
            <a:r>
              <a:rPr sz="1200" b="0" i="0">
                <a:solidFill>
                  <a:srgbClr val="DCE1C6"/>
                </a:solidFill>
              </a:rPr>
              <a:t>Challenge participants see summary performance—not another student’s per-question answers.</a:t>
            </a:r>
            <a:endParaRPr sz="1200" b="0" i="0">
              <a:solidFill>
                <a:srgbClr val="DCE1C6"/>
              </a:solidFill>
            </a:endParaRPr>
          </a:p>
        </p:txBody>
      </p:sp>
      <p:sp>
        <p:nvSpPr>
          <p:cNvPr id="17" name="Rectangles 16"/>
          <p:cNvSpPr>
            <a:spLocks noGrp="1"/>
          </p:cNvSpPr>
          <p:nvPr/>
        </p:nvSpPr>
        <p:spPr>
          <a:xfrm>
            <a:off x="685800" y="649605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 i="0">
                <a:solidFill>
                  <a:srgbClr val="D7DCC0"/>
                </a:solidFill>
              </a:defRPr>
            </a:pPr>
            <a:r>
              <a:rPr sz="825" b="1" i="0">
                <a:solidFill>
                  <a:srgbClr val="D7DCC0"/>
                </a:solidFill>
              </a:rPr>
              <a:t>DRILL INSTRUCTOR  •  SCHOOL PARTNERSHIP</a:t>
            </a:r>
            <a:endParaRPr sz="825" b="1" i="0">
              <a:solidFill>
                <a:srgbClr val="D7DCC0"/>
              </a:solidFill>
            </a:endParaRPr>
          </a:p>
        </p:txBody>
      </p:sp>
      <p:sp>
        <p:nvSpPr>
          <p:cNvPr id="18" name="Rectangles 17"/>
          <p:cNvSpPr>
            <a:spLocks noGrp="1"/>
          </p:cNvSpPr>
          <p:nvPr/>
        </p:nvSpPr>
        <p:spPr>
          <a:xfrm>
            <a:off x="1114425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D7DCC0"/>
                </a:solidFill>
              </a:defRPr>
            </a:pPr>
            <a:r>
              <a:rPr sz="825" b="1" i="0">
                <a:solidFill>
                  <a:srgbClr val="D7DCC0"/>
                </a:solidFill>
              </a:rPr>
              <a:t>08</a:t>
            </a:r>
            <a:endParaRPr sz="825" b="1" i="0">
              <a:solidFill>
                <a:srgbClr val="D7DCC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5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Rectangles 9"/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B44B"/>
          </a:solidFill>
          <a:ln w="0">
            <a:noFill/>
            <a:prstDash val="solid"/>
          </a:ln>
        </p:spPr>
      </p:sp>
      <p:sp>
        <p:nvSpPr>
          <p:cNvPr id="3" name="Rectangles 2"/>
          <p:cNvSpPr>
            <a:spLocks noGrp="1"/>
          </p:cNvSpPr>
          <p:nvPr/>
        </p:nvSpPr>
        <p:spPr>
          <a:xfrm>
            <a:off x="1752600" y="866775"/>
            <a:ext cx="428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 i="0">
                <a:solidFill>
                  <a:srgbClr val="FFFFFF"/>
                </a:solidFill>
              </a:defRPr>
            </a:pPr>
            <a:r>
              <a:rPr sz="2800" b="1" i="0">
                <a:solidFill>
                  <a:srgbClr val="FFFFFF"/>
                </a:solidFill>
              </a:rPr>
              <a:t>DRILL INSTRUCTOR</a:t>
            </a:r>
            <a:endParaRPr sz="2800" b="1" i="0">
              <a:solidFill>
                <a:srgbClr val="FFFFFF"/>
              </a:solidFill>
            </a:endParaRPr>
          </a:p>
        </p:txBody>
      </p:sp>
      <p:sp>
        <p:nvSpPr>
          <p:cNvPr id="4" name="Rectangles 3"/>
          <p:cNvSpPr>
            <a:spLocks noGrp="1"/>
          </p:cNvSpPr>
          <p:nvPr/>
        </p:nvSpPr>
        <p:spPr>
          <a:xfrm>
            <a:off x="876300" y="2209800"/>
            <a:ext cx="6667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800" b="1" i="0">
                <a:solidFill>
                  <a:srgbClr val="FFFFFF"/>
                </a:solidFill>
              </a:defRPr>
            </a:pPr>
            <a:r>
              <a:rPr sz="4800" b="1" i="0">
                <a:solidFill>
                  <a:srgbClr val="FFFFFF"/>
                </a:solidFill>
              </a:rPr>
              <a:t>Questions?</a:t>
            </a:r>
            <a:endParaRPr sz="4800" b="1" i="0">
              <a:solidFill>
                <a:srgbClr val="FFFFFF"/>
              </a:solidFill>
            </a:endParaRPr>
          </a:p>
        </p:txBody>
      </p:sp>
      <p:sp>
        <p:nvSpPr>
          <p:cNvPr id="5" name="Rectangles 4"/>
          <p:cNvSpPr>
            <a:spLocks noGrp="1"/>
          </p:cNvSpPr>
          <p:nvPr/>
        </p:nvSpPr>
        <p:spPr>
          <a:xfrm>
            <a:off x="876300" y="32385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 i="0">
                <a:solidFill>
                  <a:srgbClr val="E5E9D5"/>
                </a:solidFill>
              </a:defRPr>
            </a:pPr>
            <a:r>
              <a:rPr sz="2100" b="1" i="0">
                <a:solidFill>
                  <a:srgbClr val="E5E9D5"/>
                </a:solidFill>
              </a:rPr>
              <a:t>Let’s walk through a live student and educator demo.</a:t>
            </a:r>
            <a:endParaRPr sz="2100" b="1" i="0">
              <a:solidFill>
                <a:srgbClr val="E5E9D5"/>
              </a:solidFill>
            </a:endParaRPr>
          </a:p>
        </p:txBody>
      </p:sp>
      <p:sp>
        <p:nvSpPr>
          <p:cNvPr id="6" name="Rectangles 5"/>
          <p:cNvSpPr>
            <a:spLocks noGrp="1"/>
          </p:cNvSpPr>
          <p:nvPr/>
        </p:nvSpPr>
        <p:spPr>
          <a:xfrm>
            <a:off x="876300" y="4343400"/>
            <a:ext cx="2095500" cy="47625"/>
          </a:xfrm>
          <a:prstGeom prst="rect">
            <a:avLst/>
          </a:prstGeom>
          <a:solidFill>
            <a:srgbClr val="E8B44B"/>
          </a:solidFill>
          <a:ln w="0">
            <a:noFill/>
            <a:prstDash val="solid"/>
          </a:ln>
        </p:spPr>
      </p:sp>
      <p:sp>
        <p:nvSpPr>
          <p:cNvPr id="7" name="Rectangles 6"/>
          <p:cNvSpPr>
            <a:spLocks noGrp="1"/>
          </p:cNvSpPr>
          <p:nvPr/>
        </p:nvSpPr>
        <p:spPr>
          <a:xfrm>
            <a:off x="876300" y="464820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 i="0">
                <a:solidFill>
                  <a:srgbClr val="E8B44B"/>
                </a:solidFill>
              </a:defRPr>
            </a:pPr>
            <a:r>
              <a:rPr sz="1650" b="1" i="0">
                <a:solidFill>
                  <a:srgbClr val="E8B44B"/>
                </a:solidFill>
              </a:rPr>
              <a:t>drillinstructorprep.com</a:t>
            </a:r>
            <a:endParaRPr sz="1650" b="1" i="0">
              <a:solidFill>
                <a:srgbClr val="E8B44B"/>
              </a:solidFill>
            </a:endParaRPr>
          </a:p>
        </p:txBody>
      </p:sp>
      <p:sp>
        <p:nvSpPr>
          <p:cNvPr id="8" name="Rectangles 7"/>
          <p:cNvSpPr>
            <a:spLocks noGrp="1"/>
          </p:cNvSpPr>
          <p:nvPr/>
        </p:nvSpPr>
        <p:spPr>
          <a:xfrm>
            <a:off x="876300" y="521970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DCE1C6"/>
                </a:solidFill>
              </a:defRPr>
            </a:pPr>
            <a:r>
              <a:rPr sz="1500" b="0" i="0">
                <a:solidFill>
                  <a:srgbClr val="DCE1C6"/>
                </a:solidFill>
              </a:rPr>
              <a:t>Practice. Review. Improve.</a:t>
            </a:r>
            <a:endParaRPr sz="1500" b="0" i="0">
              <a:solidFill>
                <a:srgbClr val="DCE1C6"/>
              </a:solidFill>
            </a:endParaRPr>
          </a:p>
        </p:txBody>
      </p:sp>
      <p:sp>
        <p:nvSpPr>
          <p:cNvPr id="9" name="Rectangles 8"/>
          <p:cNvSpPr>
            <a:spLocks noGrp="1"/>
          </p:cNvSpPr>
          <p:nvPr/>
        </p:nvSpPr>
        <p:spPr>
          <a:xfrm>
            <a:off x="11049000" y="62865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 i="0">
                <a:solidFill>
                  <a:srgbClr val="DCE1C6"/>
                </a:solidFill>
              </a:defRPr>
            </a:pPr>
            <a:r>
              <a:rPr sz="900" b="1" i="0">
                <a:solidFill>
                  <a:srgbClr val="DCE1C6"/>
                </a:solidFill>
              </a:rPr>
              <a:t>12</a:t>
            </a:r>
            <a:endParaRPr sz="900" b="1" i="0">
              <a:solidFill>
                <a:srgbClr val="DCE1C6"/>
              </a:solidFill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984250" y="765175"/>
            <a:ext cx="720090" cy="72009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370" y="836644"/>
            <a:ext cx="590550" cy="563182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2744</Words>
  <Application>WPS Presentation</Application>
  <PresentationFormat>Converted Presentation</PresentationFormat>
  <Paragraphs>155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David Iyiola</cp:lastModifiedBy>
  <cp:revision>1</cp:revision>
  <dcterms:created xsi:type="dcterms:W3CDTF">2026-08-20T15:29:55Z</dcterms:created>
  <dcterms:modified xsi:type="dcterms:W3CDTF">2026-08-20T15:29:55Z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A01AA2642E9043D19E41C09FF03DD48E_12</vt:lpwstr>
  </property>
  <property fmtid="{D5CDD505-2E9C-101B-9397-08002B2CF9AE}" pid="3" name="KSOProductBuildVer">
    <vt:lpwstr>2057-12.2.0.23206</vt:lpwstr>
  </property>
</Properties>
</file>